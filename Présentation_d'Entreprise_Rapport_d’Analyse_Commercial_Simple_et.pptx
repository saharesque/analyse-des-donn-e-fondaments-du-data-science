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media/image2.svg" ContentType="image/svg+xml"/>
  <Override PartName="/ppt/media/image4.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9" r:id="rId4"/>
    <p:sldId id="260" r:id="rId5"/>
    <p:sldId id="278" r:id="rId6"/>
    <p:sldId id="261" r:id="rId7"/>
    <p:sldId id="265" r:id="rId8"/>
    <p:sldId id="262" r:id="rId9"/>
    <p:sldId id="263" r:id="rId10"/>
    <p:sldId id="273" r:id="rId11"/>
    <p:sldId id="276" r:id="rId12"/>
    <p:sldId id="274" r:id="rId13"/>
    <p:sldId id="264" r:id="rId14"/>
  </p:sldIdLst>
  <p:sldSz cx="18288000" cy="10287000"/>
  <p:notesSz cx="6858000" cy="9144000"/>
  <p:embeddedFontLst>
    <p:embeddedFont>
      <p:font typeface="Calibri" panose="020F050202020403020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EEE"/>
    <a:srgbClr val="121D27"/>
    <a:srgbClr val="3C4646"/>
    <a:srgbClr val="31553C"/>
    <a:srgbClr val="E3C16A"/>
    <a:srgbClr val="FFFFFF"/>
    <a:srgbClr val="2E5357"/>
    <a:srgbClr val="538FA6"/>
    <a:srgbClr val="32667D"/>
    <a:srgbClr val="13698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36"/>
        <p:guide pos="282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slideLayout" Target="../slideLayouts/slideLayout7.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tags" Target="../tags/tag13.xml"/><Relationship Id="rId4" Type="http://schemas.openxmlformats.org/officeDocument/2006/relationships/image" Target="../media/image6.png"/><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2667D"/>
        </a:solidFill>
        <a:effectLst/>
      </p:bgPr>
    </p:bg>
    <p:spTree>
      <p:nvGrpSpPr>
        <p:cNvPr id="1" name=""/>
        <p:cNvGrpSpPr/>
        <p:nvPr/>
      </p:nvGrpSpPr>
      <p:grpSpPr>
        <a:xfrm>
          <a:off x="0" y="0"/>
          <a:ext cx="0" cy="0"/>
          <a:chOff x="0" y="0"/>
          <a:chExt cx="0" cy="0"/>
        </a:xfrm>
      </p:grpSpPr>
      <p:grpSp>
        <p:nvGrpSpPr>
          <p:cNvPr id="2" name="Group 2"/>
          <p:cNvGrpSpPr/>
          <p:nvPr/>
        </p:nvGrpSpPr>
        <p:grpSpPr>
          <a:xfrm rot="0">
            <a:off x="1028700" y="8857231"/>
            <a:ext cx="5585887" cy="401069"/>
            <a:chOff x="0" y="0"/>
            <a:chExt cx="7447850" cy="534759"/>
          </a:xfrm>
        </p:grpSpPr>
        <p:sp>
          <p:nvSpPr>
            <p:cNvPr id="3" name="Freeform 3"/>
            <p:cNvSpPr/>
            <p:nvPr/>
          </p:nvSpPr>
          <p:spPr>
            <a:xfrm>
              <a:off x="0" y="0"/>
              <a:ext cx="534759" cy="534759"/>
            </a:xfrm>
            <a:custGeom>
              <a:avLst/>
              <a:gdLst/>
              <a:ahLst/>
              <a:cxnLst/>
              <a:rect l="l" t="t" r="r" b="b"/>
              <a:pathLst>
                <a:path w="534759" h="534759">
                  <a:moveTo>
                    <a:pt x="0" y="0"/>
                  </a:moveTo>
                  <a:lnTo>
                    <a:pt x="534759" y="0"/>
                  </a:lnTo>
                  <a:lnTo>
                    <a:pt x="534759" y="534759"/>
                  </a:lnTo>
                  <a:lnTo>
                    <a:pt x="0" y="53475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839901" y="70741"/>
              <a:ext cx="6607949" cy="421851"/>
            </a:xfrm>
            <a:prstGeom prst="rect">
              <a:avLst/>
            </a:prstGeom>
          </p:spPr>
          <p:txBody>
            <a:bodyPr lIns="0" tIns="0" rIns="0" bIns="0" rtlCol="0" anchor="t">
              <a:spAutoFit/>
            </a:bodyPr>
            <a:lstStyle/>
            <a:p>
              <a:pPr algn="l">
                <a:lnSpc>
                  <a:spcPts val="2470"/>
                </a:lnSpc>
                <a:spcBef>
                  <a:spcPct val="0"/>
                </a:spcBef>
              </a:pPr>
              <a:r>
                <a:rPr lang="en-US" sz="1900">
                  <a:solidFill>
                    <a:schemeClr val="bg1">
                      <a:lumMod val="85000"/>
                    </a:schemeClr>
                  </a:solidFill>
                  <a:latin typeface="Codec Pro" panose="00000500000000000000"/>
                  <a:ea typeface="Codec Pro" panose="00000500000000000000"/>
                  <a:cs typeface="Codec Pro" panose="00000500000000000000"/>
                  <a:sym typeface="Codec Pro" panose="00000500000000000000"/>
                </a:rPr>
                <a:t>Cet événement a des traductions en direct.</a:t>
              </a:r>
              <a:endParaRPr lang="en-US" sz="1900">
                <a:solidFill>
                  <a:schemeClr val="bg1">
                    <a:lumMod val="85000"/>
                  </a:schemeClr>
                </a:solidFill>
                <a:latin typeface="Codec Pro" panose="00000500000000000000"/>
                <a:ea typeface="Codec Pro" panose="00000500000000000000"/>
                <a:cs typeface="Codec Pro" panose="00000500000000000000"/>
                <a:sym typeface="Codec Pro" panose="00000500000000000000"/>
              </a:endParaRPr>
            </a:p>
          </p:txBody>
        </p:sp>
      </p:grpSp>
      <p:grpSp>
        <p:nvGrpSpPr>
          <p:cNvPr id="5" name="Group 5"/>
          <p:cNvGrpSpPr/>
          <p:nvPr/>
        </p:nvGrpSpPr>
        <p:grpSpPr>
          <a:xfrm rot="0">
            <a:off x="990600" y="952659"/>
            <a:ext cx="11228924" cy="5943656"/>
            <a:chOff x="-50800" y="-101388"/>
            <a:chExt cx="14971899" cy="7924875"/>
          </a:xfrm>
        </p:grpSpPr>
        <p:sp>
          <p:nvSpPr>
            <p:cNvPr id="6" name="TextBox 6"/>
            <p:cNvSpPr txBox="1"/>
            <p:nvPr/>
          </p:nvSpPr>
          <p:spPr>
            <a:xfrm>
              <a:off x="-50800" y="-101388"/>
              <a:ext cx="14921099" cy="6898008"/>
            </a:xfrm>
            <a:prstGeom prst="rect">
              <a:avLst/>
            </a:prstGeom>
          </p:spPr>
          <p:txBody>
            <a:bodyPr lIns="0" tIns="0" rIns="0" bIns="0" rtlCol="0" anchor="t">
              <a:spAutoFit/>
            </a:bodyPr>
            <a:lstStyle/>
            <a:p>
              <a:pPr algn="l">
                <a:lnSpc>
                  <a:spcPts val="13115"/>
                </a:lnSpc>
              </a:pPr>
              <a:r>
                <a:rPr lang="en-US" sz="11925" b="1">
                  <a:solidFill>
                    <a:srgbClr val="121D27"/>
                  </a:solidFill>
                  <a:latin typeface="Codec Pro Bold" panose="00000600000000000000"/>
                  <a:ea typeface="Codec Pro Bold" panose="00000600000000000000"/>
                  <a:cs typeface="Codec Pro Bold" panose="00000600000000000000"/>
                  <a:sym typeface="Codec Pro Bold" panose="00000600000000000000"/>
                </a:rPr>
                <a:t>Rapport d'Analyse Commerciale</a:t>
              </a:r>
              <a:endParaRPr lang="en-US" sz="11925"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7" name="TextBox 7"/>
            <p:cNvSpPr txBox="1"/>
            <p:nvPr/>
          </p:nvSpPr>
          <p:spPr>
            <a:xfrm>
              <a:off x="0" y="7165627"/>
              <a:ext cx="14921099" cy="657860"/>
            </a:xfrm>
            <a:prstGeom prst="rect">
              <a:avLst/>
            </a:prstGeom>
          </p:spPr>
          <p:txBody>
            <a:bodyPr lIns="0" tIns="0" rIns="0" bIns="0" rtlCol="0" anchor="t">
              <a:spAutoFit/>
            </a:bodyPr>
            <a:lstStyle/>
            <a:p>
              <a:pPr algn="l">
                <a:lnSpc>
                  <a:spcPts val="3850"/>
                </a:lnSpc>
              </a:pPr>
              <a:r>
                <a:rPr lang="fr-FR" altLang="en-US" sz="3500">
                  <a:solidFill>
                    <a:srgbClr val="121D27"/>
                  </a:solidFill>
                  <a:latin typeface="Codec Pro" panose="00000500000000000000"/>
                  <a:ea typeface="Codec Pro" panose="00000500000000000000"/>
                  <a:cs typeface="Codec Pro" panose="00000500000000000000"/>
                  <a:sym typeface="Codec Pro" panose="00000500000000000000"/>
                </a:rPr>
                <a:t>sur notre data set trouvr sur kaggle.com</a:t>
              </a:r>
              <a:endParaRPr lang="fr-FR" altLang="en-US" sz="3500">
                <a:solidFill>
                  <a:srgbClr val="121D27"/>
                </a:solidFill>
                <a:latin typeface="Codec Pro" panose="00000500000000000000"/>
                <a:ea typeface="Codec Pro" panose="00000500000000000000"/>
                <a:cs typeface="Codec Pro" panose="00000500000000000000"/>
                <a:sym typeface="Codec Pro" panose="00000500000000000000"/>
              </a:endParaRPr>
            </a:p>
          </p:txBody>
        </p:sp>
      </p:grpSp>
      <p:grpSp>
        <p:nvGrpSpPr>
          <p:cNvPr id="8" name="Group 8"/>
          <p:cNvGrpSpPr/>
          <p:nvPr/>
        </p:nvGrpSpPr>
        <p:grpSpPr>
          <a:xfrm rot="0">
            <a:off x="14538397" y="1331433"/>
            <a:ext cx="2548513" cy="489429"/>
            <a:chOff x="0" y="0"/>
            <a:chExt cx="3398017" cy="652573"/>
          </a:xfrm>
        </p:grpSpPr>
        <p:sp>
          <p:nvSpPr>
            <p:cNvPr id="9" name="Freeform 9"/>
            <p:cNvSpPr/>
            <p:nvPr/>
          </p:nvSpPr>
          <p:spPr>
            <a:xfrm>
              <a:off x="0" y="0"/>
              <a:ext cx="790562" cy="652573"/>
            </a:xfrm>
            <a:custGeom>
              <a:avLst/>
              <a:gdLst/>
              <a:ahLst/>
              <a:cxnLst/>
              <a:rect l="l" t="t" r="r" b="b"/>
              <a:pathLst>
                <a:path w="790562" h="652573">
                  <a:moveTo>
                    <a:pt x="0" y="0"/>
                  </a:moveTo>
                  <a:lnTo>
                    <a:pt x="790562" y="0"/>
                  </a:lnTo>
                  <a:lnTo>
                    <a:pt x="790562" y="652573"/>
                  </a:lnTo>
                  <a:lnTo>
                    <a:pt x="0" y="6525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1013418" y="-17228"/>
              <a:ext cx="2384599" cy="391754"/>
            </a:xfrm>
            <a:prstGeom prst="rect">
              <a:avLst/>
            </a:prstGeom>
          </p:spPr>
          <p:txBody>
            <a:bodyPr lIns="0" tIns="0" rIns="0" bIns="0" rtlCol="0" anchor="t">
              <a:spAutoFit/>
            </a:bodyPr>
            <a:lstStyle/>
            <a:p>
              <a:pPr algn="l">
                <a:lnSpc>
                  <a:spcPts val="2310"/>
                </a:lnSpc>
                <a:spcBef>
                  <a:spcPct val="0"/>
                </a:spcBef>
              </a:pPr>
              <a:r>
                <a:rPr lang="en-US" sz="165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rPr>
                <a:t>Nom de l'entreprise</a:t>
              </a:r>
              <a:endParaRPr lang="en-US" sz="165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endParaRPr>
            </a:p>
          </p:txBody>
        </p:sp>
      </p:grpSp>
      <p:sp>
        <p:nvSpPr>
          <p:cNvPr id="11" name="AutoShape 11"/>
          <p:cNvSpPr/>
          <p:nvPr/>
        </p:nvSpPr>
        <p:spPr>
          <a:xfrm rot="5400000">
            <a:off x="8608867" y="5129212"/>
            <a:ext cx="10287000" cy="0"/>
          </a:xfrm>
          <a:prstGeom prst="line">
            <a:avLst/>
          </a:prstGeom>
          <a:ln w="28575" cap="flat">
            <a:solidFill>
              <a:srgbClr val="FFFFFF"/>
            </a:solidFill>
            <a:prstDash val="solid"/>
            <a:headEnd type="none" w="sm" len="sm"/>
            <a:tailEnd type="none" w="sm" len="sm"/>
          </a:ln>
        </p:spPr>
      </p:sp>
      <p:sp>
        <p:nvSpPr>
          <p:cNvPr id="12" name="TextBox 12"/>
          <p:cNvSpPr txBox="1"/>
          <p:nvPr/>
        </p:nvSpPr>
        <p:spPr>
          <a:xfrm>
            <a:off x="14538397" y="6622012"/>
            <a:ext cx="3026140" cy="1346200"/>
          </a:xfrm>
          <a:prstGeom prst="rect">
            <a:avLst/>
          </a:prstGeom>
        </p:spPr>
        <p:txBody>
          <a:bodyPr lIns="0" tIns="0" rIns="0" bIns="0" rtlCol="0" anchor="t">
            <a:spAutoFit/>
          </a:bodyPr>
          <a:lstStyle/>
          <a:p>
            <a:pPr algn="l">
              <a:lnSpc>
                <a:spcPts val="2625"/>
              </a:lnSpc>
            </a:pPr>
            <a:r>
              <a:rPr lang="en-US" altLang="fr-FR" sz="1875">
                <a:solidFill>
                  <a:srgbClr val="EEEEEE"/>
                </a:solidFill>
                <a:latin typeface="Codec Pro" panose="00000500000000000000"/>
                <a:ea typeface="Codec Pro" panose="00000500000000000000"/>
                <a:cs typeface="Codec Pro" panose="00000500000000000000"/>
                <a:sym typeface="Codec Pro" panose="00000500000000000000"/>
              </a:rPr>
              <a:t>Universit</a:t>
            </a:r>
            <a:r>
              <a:rPr lang="en-US" altLang="en-US" sz="1875">
                <a:solidFill>
                  <a:srgbClr val="EEEEEE"/>
                </a:solidFill>
                <a:latin typeface="Codec Pro" panose="00000500000000000000"/>
                <a:ea typeface="Codec Pro" panose="00000500000000000000"/>
                <a:cs typeface="Codec Pro" panose="00000500000000000000"/>
                <a:sym typeface="Codec Pro" panose="00000500000000000000"/>
              </a:rPr>
              <a:t>é</a:t>
            </a:r>
            <a:r>
              <a:rPr lang="en-US" altLang="fr-FR" sz="1875">
                <a:solidFill>
                  <a:srgbClr val="EEEEEE"/>
                </a:solidFill>
                <a:latin typeface="Codec Pro" panose="00000500000000000000"/>
                <a:ea typeface="Codec Pro" panose="00000500000000000000"/>
                <a:cs typeface="Codec Pro" panose="00000500000000000000"/>
                <a:sym typeface="Codec Pro" panose="00000500000000000000"/>
              </a:rPr>
              <a:t> Badji Mokhtar – Annaba</a:t>
            </a:r>
            <a:endParaRPr lang="en-US" altLang="fr-FR" sz="1875">
              <a:solidFill>
                <a:srgbClr val="EEEEEE"/>
              </a:solidFill>
              <a:latin typeface="Codec Pro" panose="00000500000000000000"/>
              <a:ea typeface="Codec Pro" panose="00000500000000000000"/>
              <a:cs typeface="Codec Pro" panose="00000500000000000000"/>
              <a:sym typeface="Codec Pro" panose="00000500000000000000"/>
            </a:endParaRPr>
          </a:p>
          <a:p>
            <a:pPr algn="l">
              <a:lnSpc>
                <a:spcPts val="2625"/>
              </a:lnSpc>
            </a:pPr>
            <a:r>
              <a:rPr lang="en-US" altLang="fr-FR" sz="1875">
                <a:solidFill>
                  <a:srgbClr val="EEEEEE"/>
                </a:solidFill>
                <a:latin typeface="Codec Pro" panose="00000500000000000000"/>
                <a:ea typeface="Codec Pro" panose="00000500000000000000"/>
                <a:cs typeface="Codec Pro" panose="00000500000000000000"/>
                <a:sym typeface="Codec Pro" panose="00000500000000000000"/>
              </a:rPr>
              <a:t>Binôme : ouiam bendaia / chaoui sahar rahma</a:t>
            </a:r>
            <a:endParaRPr lang="en-US" altLang="fr-FR" sz="1875">
              <a:solidFill>
                <a:srgbClr val="EEEEEE"/>
              </a:solidFill>
              <a:latin typeface="Codec Pro" panose="00000500000000000000"/>
              <a:ea typeface="Codec Pro" panose="00000500000000000000"/>
              <a:cs typeface="Codec Pro" panose="00000500000000000000"/>
              <a:sym typeface="Codec Pro" panose="00000500000000000000"/>
            </a:endParaRPr>
          </a:p>
        </p:txBody>
      </p:sp>
      <p:sp>
        <p:nvSpPr>
          <p:cNvPr id="13" name="TextBox 13"/>
          <p:cNvSpPr txBox="1"/>
          <p:nvPr/>
        </p:nvSpPr>
        <p:spPr>
          <a:xfrm>
            <a:off x="14538397" y="8465820"/>
            <a:ext cx="3026140" cy="780415"/>
          </a:xfrm>
          <a:prstGeom prst="rect">
            <a:avLst/>
          </a:prstGeom>
        </p:spPr>
        <p:txBody>
          <a:bodyPr lIns="0" tIns="0" rIns="0" bIns="0" rtlCol="0" anchor="t">
            <a:spAutoFit/>
          </a:bodyPr>
          <a:lstStyle/>
          <a:p>
            <a:pPr algn="l">
              <a:lnSpc>
                <a:spcPts val="3045"/>
              </a:lnSpc>
            </a:pPr>
            <a:r>
              <a:rPr lang="en-US" sz="2175" b="1">
                <a:solidFill>
                  <a:srgbClr val="121D27"/>
                </a:solidFill>
                <a:latin typeface="Codec Pro Bold" panose="00000600000000000000"/>
                <a:ea typeface="Codec Pro Bold" panose="00000600000000000000"/>
                <a:cs typeface="Codec Pro Bold" panose="00000600000000000000"/>
                <a:sym typeface="Codec Pro Bold" panose="00000600000000000000"/>
              </a:rPr>
              <a:t>Date de présentation : </a:t>
            </a:r>
            <a:r>
              <a:rPr lang="fr-FR" altLang="en-US" sz="2175" b="1">
                <a:solidFill>
                  <a:srgbClr val="121D27"/>
                </a:solidFill>
                <a:latin typeface="Codec Pro Bold" panose="00000600000000000000"/>
                <a:ea typeface="Codec Pro Bold" panose="00000600000000000000"/>
                <a:cs typeface="Codec Pro Bold" panose="00000600000000000000"/>
                <a:sym typeface="Codec Pro Bold" panose="00000600000000000000"/>
              </a:rPr>
              <a:t>07</a:t>
            </a:r>
            <a:r>
              <a:rPr lang="en-US" sz="2175" b="1">
                <a:solidFill>
                  <a:srgbClr val="121D27"/>
                </a:solidFill>
                <a:latin typeface="Codec Pro Bold" panose="00000600000000000000"/>
                <a:ea typeface="Codec Pro Bold" panose="00000600000000000000"/>
                <a:cs typeface="Codec Pro Bold" panose="00000600000000000000"/>
                <a:sym typeface="Codec Pro Bold" panose="00000600000000000000"/>
              </a:rPr>
              <a:t> </a:t>
            </a:r>
            <a:r>
              <a:rPr lang="fr-FR" altLang="en-US" sz="2175" b="1">
                <a:solidFill>
                  <a:srgbClr val="121D27"/>
                </a:solidFill>
                <a:latin typeface="Codec Pro Bold" panose="00000600000000000000"/>
                <a:ea typeface="Codec Pro Bold" panose="00000600000000000000"/>
                <a:cs typeface="Codec Pro Bold" panose="00000600000000000000"/>
                <a:sym typeface="Codec Pro Bold" panose="00000600000000000000"/>
              </a:rPr>
              <a:t>janvier </a:t>
            </a:r>
            <a:r>
              <a:rPr lang="en-US" sz="2175" b="1">
                <a:solidFill>
                  <a:srgbClr val="121D27"/>
                </a:solidFill>
                <a:latin typeface="Codec Pro Bold" panose="00000600000000000000"/>
                <a:ea typeface="Codec Pro Bold" panose="00000600000000000000"/>
                <a:cs typeface="Codec Pro Bold" panose="00000600000000000000"/>
                <a:sym typeface="Codec Pro Bold" panose="00000600000000000000"/>
              </a:rPr>
              <a:t>202</a:t>
            </a:r>
            <a:r>
              <a:rPr lang="fr-FR" altLang="en-US" sz="2175" b="1">
                <a:solidFill>
                  <a:srgbClr val="121D27"/>
                </a:solidFill>
                <a:latin typeface="Codec Pro Bold" panose="00000600000000000000"/>
                <a:ea typeface="Codec Pro Bold" panose="00000600000000000000"/>
                <a:cs typeface="Codec Pro Bold" panose="00000600000000000000"/>
                <a:sym typeface="Codec Pro Bold" panose="00000600000000000000"/>
              </a:rPr>
              <a:t>6</a:t>
            </a:r>
            <a:endParaRPr lang="fr-FR" altLang="en-US" sz="2175"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14" name="AutoShape 14"/>
          <p:cNvSpPr/>
          <p:nvPr/>
        </p:nvSpPr>
        <p:spPr>
          <a:xfrm rot="-10800000">
            <a:off x="14538397" y="8050312"/>
            <a:ext cx="2742895" cy="0"/>
          </a:xfrm>
          <a:prstGeom prst="line">
            <a:avLst/>
          </a:prstGeom>
          <a:ln w="28575" cap="flat">
            <a:solidFill>
              <a:srgbClr val="FFFFFF"/>
            </a:solidFill>
            <a:prstDash val="solid"/>
            <a:headEnd type="none" w="sm" len="sm"/>
            <a:tailEnd type="none" w="sm" len="sm"/>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8551397" cy="10287000"/>
          </a:xfrm>
          <a:prstGeom prst="rect">
            <a:avLst/>
          </a:prstGeom>
          <a:solidFill>
            <a:srgbClr val="32667D"/>
          </a:solidFill>
        </p:spPr>
      </p:sp>
      <p:sp>
        <p:nvSpPr>
          <p:cNvPr id="3" name="TextBox 3"/>
          <p:cNvSpPr txBox="1"/>
          <p:nvPr/>
        </p:nvSpPr>
        <p:spPr>
          <a:xfrm>
            <a:off x="1028700" y="2705100"/>
            <a:ext cx="6758305" cy="3857625"/>
          </a:xfrm>
          <a:prstGeom prst="rect">
            <a:avLst/>
          </a:prstGeom>
        </p:spPr>
        <p:txBody>
          <a:bodyPr lIns="0" tIns="0" rIns="0" bIns="0" rtlCol="0" anchor="t">
            <a:noAutofit/>
          </a:bodyPr>
          <a:lstStyle/>
          <a:p>
            <a:pPr algn="l">
              <a:lnSpc>
                <a:spcPts val="7800"/>
              </a:lnSpc>
            </a:pPr>
            <a:r>
              <a:rPr lang="fr-FR" altLang="en-US" sz="6500" b="1" u="sng">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rPr>
              <a:t>Presentation du problématique:</a:t>
            </a:r>
            <a:endParaRPr lang="fr-FR" altLang="en-US" sz="6500" b="1" u="sng">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9" name="TextBox 9"/>
          <p:cNvSpPr txBox="1"/>
          <p:nvPr/>
        </p:nvSpPr>
        <p:spPr>
          <a:xfrm>
            <a:off x="9829800" y="4457700"/>
            <a:ext cx="6301740" cy="1435735"/>
          </a:xfrm>
          <a:prstGeom prst="rect">
            <a:avLst/>
          </a:prstGeom>
        </p:spPr>
        <p:txBody>
          <a:bodyPr lIns="0" tIns="0" rIns="0" bIns="0" rtlCol="0" anchor="t">
            <a:spAutoFit/>
          </a:bodyPr>
          <a:lstStyle/>
          <a:p>
            <a:pPr marL="215900" lvl="1" indent="0" algn="l">
              <a:lnSpc>
                <a:spcPts val="2800"/>
              </a:lnSpc>
              <a:buNone/>
            </a:pPr>
            <a:r>
              <a:rPr lang="en-US" altLang="fr-FR" sz="2800">
                <a:solidFill>
                  <a:srgbClr val="121D27"/>
                </a:solidFill>
                <a:latin typeface="Codec Pro" panose="00000500000000000000"/>
                <a:ea typeface="Codec Pro" panose="00000500000000000000"/>
                <a:cs typeface="Codec Pro" panose="00000500000000000000"/>
                <a:sym typeface="Codec Pro" panose="00000500000000000000"/>
              </a:rPr>
              <a:t>Comment comprendre les ventes, la fid</a:t>
            </a:r>
            <a:r>
              <a:rPr lang="en-US" altLang="en-US" sz="2800">
                <a:solidFill>
                  <a:srgbClr val="121D27"/>
                </a:solidFill>
                <a:latin typeface="Codec Pro" panose="00000500000000000000"/>
                <a:ea typeface="Codec Pro" panose="00000500000000000000"/>
                <a:cs typeface="Codec Pro" panose="00000500000000000000"/>
                <a:sym typeface="Codec Pro" panose="00000500000000000000"/>
              </a:rPr>
              <a:t>é</a:t>
            </a:r>
            <a:r>
              <a:rPr lang="en-US" altLang="fr-FR" sz="2800">
                <a:solidFill>
                  <a:srgbClr val="121D27"/>
                </a:solidFill>
                <a:latin typeface="Codec Pro" panose="00000500000000000000"/>
                <a:ea typeface="Codec Pro" panose="00000500000000000000"/>
                <a:cs typeface="Codec Pro" panose="00000500000000000000"/>
                <a:sym typeface="Codec Pro" panose="00000500000000000000"/>
              </a:rPr>
              <a:t>lit</a:t>
            </a:r>
            <a:r>
              <a:rPr lang="en-US" altLang="en-US" sz="2800">
                <a:solidFill>
                  <a:srgbClr val="121D27"/>
                </a:solidFill>
                <a:latin typeface="Codec Pro" panose="00000500000000000000"/>
                <a:ea typeface="Codec Pro" panose="00000500000000000000"/>
                <a:cs typeface="Codec Pro" panose="00000500000000000000"/>
                <a:sym typeface="Codec Pro" panose="00000500000000000000"/>
              </a:rPr>
              <a:t>é</a:t>
            </a:r>
            <a:r>
              <a:rPr lang="en-US" altLang="fr-FR" sz="2800">
                <a:solidFill>
                  <a:srgbClr val="121D27"/>
                </a:solidFill>
                <a:latin typeface="Codec Pro" panose="00000500000000000000"/>
                <a:ea typeface="Codec Pro" panose="00000500000000000000"/>
                <a:cs typeface="Codec Pro" panose="00000500000000000000"/>
                <a:sym typeface="Codec Pro" panose="00000500000000000000"/>
              </a:rPr>
              <a:t> des clients et identifier les produits performants dans un contexte e-commerce ?</a:t>
            </a:r>
            <a:endParaRPr lang="en-US" altLang="fr-FR" sz="2800">
              <a:solidFill>
                <a:srgbClr val="121D27"/>
              </a:solidFill>
              <a:latin typeface="Codec Pro" panose="00000500000000000000"/>
              <a:ea typeface="Codec Pro" panose="00000500000000000000"/>
              <a:cs typeface="Codec Pro" panose="00000500000000000000"/>
              <a:sym typeface="Codec Pro" panose="0000050000000000000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C4646"/>
        </a:solidFill>
        <a:effectLst/>
      </p:bgPr>
    </p:bg>
    <p:spTree>
      <p:nvGrpSpPr>
        <p:cNvPr id="1" name=""/>
        <p:cNvGrpSpPr/>
        <p:nvPr/>
      </p:nvGrpSpPr>
      <p:grpSpPr>
        <a:xfrm>
          <a:off x="0" y="0"/>
          <a:ext cx="0" cy="0"/>
          <a:chOff x="0" y="0"/>
          <a:chExt cx="0" cy="0"/>
        </a:xfrm>
      </p:grpSpPr>
      <p:sp>
        <p:nvSpPr>
          <p:cNvPr id="4" name="Zone de texte 3"/>
          <p:cNvSpPr txBox="1"/>
          <p:nvPr/>
        </p:nvSpPr>
        <p:spPr>
          <a:xfrm>
            <a:off x="990600" y="723900"/>
            <a:ext cx="7218680" cy="921385"/>
          </a:xfrm>
          <a:prstGeom prst="rect">
            <a:avLst/>
          </a:prstGeom>
          <a:noFill/>
        </p:spPr>
        <p:txBody>
          <a:bodyPr wrap="square" rtlCol="0">
            <a:noAutofit/>
          </a:bodyPr>
          <a:p>
            <a:pPr algn="ctr">
              <a:lnSpc>
                <a:spcPts val="5600"/>
              </a:lnSpc>
              <a:defRPr/>
            </a:pPr>
            <a:r>
              <a:rPr lang="fr-FR" altLang="en-US" sz="4000" b="1">
                <a:solidFill>
                  <a:srgbClr val="FFFFFF"/>
                </a:solidFill>
                <a:latin typeface="Codec Pro Bold" panose="00000600000000000000"/>
                <a:ea typeface="Codec Pro Bold" panose="00000600000000000000"/>
                <a:cs typeface="Codec Pro Bold" panose="00000600000000000000"/>
                <a:sym typeface="Codec Pro Bold" panose="00000600000000000000"/>
              </a:rPr>
              <a:t>Déscription du data-set </a:t>
            </a:r>
            <a:endParaRPr lang="fr-FR" altLang="en-US" sz="40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5" name="Zone de texte 4"/>
          <p:cNvSpPr txBox="1"/>
          <p:nvPr/>
        </p:nvSpPr>
        <p:spPr>
          <a:xfrm>
            <a:off x="1043305" y="2055495"/>
            <a:ext cx="16180435" cy="6762750"/>
          </a:xfrm>
          <a:prstGeom prst="rect">
            <a:avLst/>
          </a:prstGeom>
          <a:noFill/>
        </p:spPr>
        <p:txBody>
          <a:bodyPr wrap="square" rtlCol="0">
            <a:noAutofit/>
          </a:bodyPr>
          <a:p>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Données Kaggle(Amazon et produit electronique (Inde))</a:t>
            </a:r>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a:p>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Produits: 64 article (cables televiseur adaptateur wifi Période : Données récente (debut 2023)</a:t>
            </a:r>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a:p>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Format: CSV structure: </a:t>
            </a:r>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Contenu clé:</a:t>
            </a:r>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a:p>
            <a:pPr marL="457200" indent="-457200">
              <a:buFont typeface="Arial" panose="020B0604020202020204" pitchFamily="34" charset="0"/>
              <a:buChar char="•"/>
            </a:pPr>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Prix (avant\après réduction)</a:t>
            </a:r>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a:p>
            <a:pPr marL="457200" indent="-457200">
              <a:buFont typeface="Arial" panose="020B0604020202020204" pitchFamily="34" charset="0"/>
              <a:buChar char="•"/>
            </a:pPr>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Notes moyennes &amp; nombre d’avis</a:t>
            </a:r>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a:p>
            <a:pPr marL="457200" indent="-457200">
              <a:buFont typeface="Arial" panose="020B0604020202020204" pitchFamily="34" charset="0"/>
              <a:buChar char="•"/>
            </a:pPr>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Description Produit &amp; avis clients </a:t>
            </a:r>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a:p>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Liens images &amp; pages produits Utilité idéale pour analyser de sentiment étude de marché recommendation produits</a:t>
            </a:r>
            <a:endParaRPr lang="en-US" altLang="fr-FR" sz="3200"/>
          </a:p>
          <a:p>
            <a:endParaRPr lang="en-US" altLang="fr-FR"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C4646"/>
        </a:solidFill>
        <a:effectLst/>
      </p:bgPr>
    </p:bg>
    <p:spTree>
      <p:nvGrpSpPr>
        <p:cNvPr id="1" name=""/>
        <p:cNvGrpSpPr/>
        <p:nvPr/>
      </p:nvGrpSpPr>
      <p:grpSpPr/>
      <p:sp>
        <p:nvSpPr>
          <p:cNvPr id="5" name="Zone de texte 4"/>
          <p:cNvSpPr txBox="1"/>
          <p:nvPr/>
        </p:nvSpPr>
        <p:spPr>
          <a:xfrm>
            <a:off x="1120775" y="1805305"/>
            <a:ext cx="14903450" cy="7299960"/>
          </a:xfrm>
          <a:prstGeom prst="rect">
            <a:avLst/>
          </a:prstGeom>
          <a:noFill/>
        </p:spPr>
        <p:txBody>
          <a:bodyPr wrap="square" rtlCol="0">
            <a:noAutofit/>
          </a:bodyPr>
          <a:p>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Colonnes principale</a:t>
            </a:r>
            <a:endParaRPr lang="zh-CN" altLang="en-US" sz="3200"/>
          </a:p>
          <a:p>
            <a:endParaRPr lang="zh-CN" altLang="en-US" sz="3200"/>
          </a:p>
          <a:p>
            <a:endParaRPr lang="zh-CN" altLang="en-US" sz="3200"/>
          </a:p>
          <a:p>
            <a:endParaRPr lang="zh-CN" altLang="en-US" sz="3200"/>
          </a:p>
          <a:p>
            <a:endParaRPr lang="zh-CN" altLang="en-US" sz="3200"/>
          </a:p>
          <a:p>
            <a:endParaRPr lang="zh-CN" altLang="en-US" sz="3200"/>
          </a:p>
          <a:p>
            <a:endParaRPr lang="zh-CN" altLang="en-US" sz="3200"/>
          </a:p>
          <a:p>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Produits:</a:t>
            </a:r>
            <a:endParaRPr lang="en-US" altLang="fr-FR" sz="3200"/>
          </a:p>
          <a:p>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Cables</a:t>
            </a:r>
            <a:r>
              <a:rPr lang="en-US" altLang="fr-FR" sz="3200">
                <a:solidFill>
                  <a:srgbClr val="EEEEEE"/>
                </a:solidFill>
              </a:rPr>
              <a:t> (boAt, Ambrane, pTron)</a:t>
            </a:r>
            <a:endParaRPr lang="en-US" altLang="fr-FR" sz="3200">
              <a:solidFill>
                <a:srgbClr val="EEEEEE"/>
              </a:solidFill>
            </a:endParaRPr>
          </a:p>
          <a:p>
            <a:r>
              <a:rPr lang="fr-FR" altLang="en-US" sz="3200" b="1">
                <a:solidFill>
                  <a:srgbClr val="EEEEEE"/>
                </a:solidFill>
                <a:latin typeface="Codec Pro Bold" panose="00000600000000000000"/>
                <a:ea typeface="Codec Pro Bold" panose="00000600000000000000"/>
                <a:cs typeface="Codec Pro Bold" panose="00000600000000000000"/>
                <a:sym typeface="Codec Pro Bold" panose="00000600000000000000"/>
              </a:rPr>
              <a:t>Téléviseur inteligent</a:t>
            </a:r>
            <a:r>
              <a:rPr lang="en-US" altLang="fr-FR" sz="3200">
                <a:solidFill>
                  <a:srgbClr val="EEEEEE"/>
                </a:solidFill>
              </a:rPr>
              <a:t> (MI, Samsung, OnePlus)</a:t>
            </a:r>
            <a:endParaRPr lang="en-US" altLang="fr-FR" sz="3200">
              <a:solidFill>
                <a:srgbClr val="EEEEEE"/>
              </a:solidFill>
            </a:endParaRPr>
          </a:p>
          <a:p>
            <a:r>
              <a:rPr lang="fr-FR" altLang="en-US" sz="3200" b="1">
                <a:solidFill>
                  <a:srgbClr val="EEEEEE"/>
                </a:solidFill>
                <a:latin typeface="Codec Pro Bold" panose="00000600000000000000"/>
                <a:ea typeface="Codec Pro Bold" panose="00000600000000000000"/>
                <a:cs typeface="Codec Pro Bold" panose="00000600000000000000"/>
                <a:sym typeface="Codec Pro Bold" panose="00000600000000000000"/>
              </a:rPr>
              <a:t>Adaptateur Wi-Fi</a:t>
            </a:r>
            <a:r>
              <a:rPr lang="en-US" altLang="fr-FR" sz="3200">
                <a:solidFill>
                  <a:srgbClr val="EEEEEE"/>
                </a:solidFill>
              </a:rPr>
              <a:t> (TP-Link)</a:t>
            </a:r>
            <a:endParaRPr lang="en-US" altLang="fr-FR" sz="3200">
              <a:solidFill>
                <a:srgbClr val="EEEEEE"/>
              </a:solidFill>
            </a:endParaRPr>
          </a:p>
          <a:p>
            <a:r>
              <a:rPr lang="fr-FR" altLang="en-US" sz="3200" b="1">
                <a:solidFill>
                  <a:srgbClr val="EEEEEE"/>
                </a:solidFill>
                <a:latin typeface="Codec Pro Bold" panose="00000600000000000000"/>
                <a:ea typeface="Codec Pro Bold" panose="00000600000000000000"/>
                <a:cs typeface="Codec Pro Bold" panose="00000600000000000000"/>
                <a:sym typeface="Codec Pro Bold" panose="00000600000000000000"/>
              </a:rPr>
              <a:t>Points danalyse possible:</a:t>
            </a:r>
            <a:r>
              <a:rPr lang="en-US" altLang="fr-FR" sz="3200">
                <a:solidFill>
                  <a:srgbClr val="EEEEEE"/>
                </a:solidFill>
              </a:rPr>
              <a:t> </a:t>
            </a:r>
            <a:endParaRPr lang="en-US" altLang="fr-FR" sz="3200">
              <a:solidFill>
                <a:srgbClr val="EEEEEE"/>
              </a:solidFill>
            </a:endParaRPr>
          </a:p>
          <a:p>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Sentiment + les avis</a:t>
            </a:r>
            <a:endParaRPr lang="en-US" altLang="fr-FR" sz="3200"/>
          </a:p>
          <a:p>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Impact des collision</a:t>
            </a:r>
            <a:endParaRPr lang="en-US" altLang="fr-FR" sz="3200"/>
          </a:p>
          <a:p>
            <a:r>
              <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rPr>
              <a:t>Comparaison marques</a:t>
            </a:r>
            <a:endParaRPr lang="fr-FR" altLang="en-US" sz="32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p:txBody>
      </p:sp>
      <p:graphicFrame>
        <p:nvGraphicFramePr>
          <p:cNvPr id="6" name="Table 5"/>
          <p:cNvGraphicFramePr/>
          <p:nvPr/>
        </p:nvGraphicFramePr>
        <p:xfrm>
          <a:off x="1600200" y="2705100"/>
          <a:ext cx="13439775" cy="2537460"/>
        </p:xfrm>
        <a:graphic>
          <a:graphicData uri="http://schemas.openxmlformats.org/drawingml/2006/table">
            <a:tbl>
              <a:tblPr firstRow="1" bandRow="1">
                <a:tableStyleId>{5C22544A-7EE6-4342-B048-85BDC9FD1C3A}</a:tableStyleId>
              </a:tblPr>
              <a:tblGrid>
                <a:gridCol w="4479925"/>
                <a:gridCol w="4479925"/>
                <a:gridCol w="4479925"/>
              </a:tblGrid>
              <a:tr h="411480">
                <a:tc>
                  <a:txBody>
                    <a:bodyPr/>
                    <a:p>
                      <a:pPr>
                        <a:buNone/>
                      </a:pPr>
                      <a:r>
                        <a:rPr lang="fr-FR" altLang="en-US" sz="1800">
                          <a:solidFill>
                            <a:srgbClr val="EEEEEE"/>
                          </a:solidFill>
                          <a:latin typeface="Codec Pro Bold" panose="00000600000000000000"/>
                          <a:ea typeface="Codec Pro Bold" panose="00000600000000000000"/>
                          <a:cs typeface="Codec Pro Bold" panose="00000600000000000000"/>
                          <a:sym typeface="Codec Pro Bold" panose="00000600000000000000"/>
                        </a:rPr>
                        <a:t>colonne</a:t>
                      </a:r>
                      <a:endParaRPr lang="fr-FR" altLang="en-US" sz="1800">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a:solidFill>
                            <a:srgbClr val="EEEEEE"/>
                          </a:solidFill>
                          <a:latin typeface="Codec Pro Bold" panose="00000600000000000000"/>
                          <a:ea typeface="Codec Pro Bold" panose="00000600000000000000"/>
                          <a:cs typeface="Codec Pro Bold" panose="00000600000000000000"/>
                          <a:sym typeface="Codec Pro Bold" panose="00000600000000000000"/>
                        </a:rPr>
                        <a:t>description</a:t>
                      </a:r>
                      <a:endParaRPr lang="fr-FR" altLang="en-US" sz="1800">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a:solidFill>
                            <a:srgbClr val="EEEEEE"/>
                          </a:solidFill>
                          <a:latin typeface="Codec Pro Bold" panose="00000600000000000000"/>
                          <a:ea typeface="Codec Pro Bold" panose="00000600000000000000"/>
                          <a:cs typeface="Codec Pro Bold" panose="00000600000000000000"/>
                          <a:sym typeface="Codec Pro Bold" panose="00000600000000000000"/>
                        </a:rPr>
                        <a:t>exemple</a:t>
                      </a:r>
                      <a:endParaRPr lang="fr-FR" altLang="en-US" sz="1800">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r>
              <a:tr h="411480">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product_name</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Nom du produit</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Cable USBC-C fast charging</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r>
              <a:tr h="428625">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discounted_price</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Prix Reduit</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$199</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60000"/>
                      </a:srgbClr>
                    </a:solidFill>
                  </a:tcPr>
                </a:tc>
              </a:tr>
              <a:tr h="428625">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rating</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Note/5</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4.2</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r>
              <a:tr h="428625">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review_content</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Avisclient</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»Charging is fast and durable»</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noFill/>
                  </a:tcPr>
                </a:tc>
              </a:tr>
              <a:tr h="428625">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categorie</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Categorie hierachiqe</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c>
                  <a:txBody>
                    <a:bodyPr/>
                    <a:p>
                      <a:pPr>
                        <a:buNone/>
                      </a:pPr>
                      <a:r>
                        <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rPr>
                        <a:t> Cables-&gt; USB CAbles</a:t>
                      </a:r>
                      <a:endParaRPr lang="fr-FR" altLang="en-US" sz="1800"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a:txBody>
                  <a:tcPr>
                    <a:solidFill>
                      <a:srgbClr val="3C4646">
                        <a:alpha val="50000"/>
                      </a:srgbClr>
                    </a:solidFill>
                  </a:tcPr>
                </a:tc>
              </a:tr>
            </a:tbl>
          </a:graphicData>
        </a:graphic>
      </p:graphicFrame>
      <p:sp>
        <p:nvSpPr>
          <p:cNvPr id="8" name="Zone de texte 7"/>
          <p:cNvSpPr txBox="1"/>
          <p:nvPr/>
        </p:nvSpPr>
        <p:spPr>
          <a:xfrm>
            <a:off x="533400" y="723900"/>
            <a:ext cx="7218680" cy="921385"/>
          </a:xfrm>
          <a:prstGeom prst="rect">
            <a:avLst/>
          </a:prstGeom>
          <a:noFill/>
        </p:spPr>
        <p:txBody>
          <a:bodyPr wrap="square" rtlCol="0">
            <a:noAutofit/>
          </a:bodyPr>
          <a:p>
            <a:pPr algn="ctr">
              <a:lnSpc>
                <a:spcPts val="5600"/>
              </a:lnSpc>
              <a:defRPr/>
            </a:pPr>
            <a:r>
              <a:rPr lang="fr-FR" altLang="en-US" sz="4000" b="1">
                <a:solidFill>
                  <a:srgbClr val="FFFFFF"/>
                </a:solidFill>
                <a:latin typeface="Codec Pro Bold" panose="00000600000000000000"/>
                <a:ea typeface="Codec Pro Bold" panose="00000600000000000000"/>
                <a:cs typeface="Codec Pro Bold" panose="00000600000000000000"/>
                <a:sym typeface="Codec Pro Bold" panose="00000600000000000000"/>
              </a:rPr>
              <a:t>Déscription du data-set </a:t>
            </a:r>
            <a:endParaRPr lang="fr-FR" altLang="en-US" sz="4000" b="1">
              <a:solidFill>
                <a:srgbClr val="FFFFFF"/>
              </a:solidFill>
              <a:latin typeface="Codec Pro Bold" panose="00000600000000000000"/>
              <a:ea typeface="Codec Pro Bold" panose="00000600000000000000"/>
              <a:cs typeface="Codec Pro Bold" panose="00000600000000000000"/>
              <a:sym typeface="Codec Pro Bold" panose="000006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655246" y="0"/>
            <a:ext cx="9632754" cy="10287000"/>
          </a:xfrm>
          <a:prstGeom prst="rect">
            <a:avLst/>
          </a:prstGeom>
          <a:solidFill>
            <a:srgbClr val="3C4646"/>
          </a:solidFill>
        </p:spPr>
        <p:txBody>
          <a:bodyPr/>
          <a:p>
            <a:endParaRPr lang="fr-FR" altLang="en-US"/>
          </a:p>
        </p:txBody>
      </p:sp>
      <p:sp>
        <p:nvSpPr>
          <p:cNvPr id="3" name="TextBox 3"/>
          <p:cNvSpPr txBox="1"/>
          <p:nvPr/>
        </p:nvSpPr>
        <p:spPr>
          <a:xfrm>
            <a:off x="1028700" y="923925"/>
            <a:ext cx="6297366" cy="1977390"/>
          </a:xfrm>
          <a:prstGeom prst="rect">
            <a:avLst/>
          </a:prstGeom>
        </p:spPr>
        <p:txBody>
          <a:bodyPr lIns="0" tIns="0" rIns="0" bIns="0" rtlCol="0" anchor="t">
            <a:spAutoFit/>
          </a:bodyPr>
          <a:lstStyle/>
          <a:p>
            <a:pPr algn="l">
              <a:lnSpc>
                <a:spcPts val="7710"/>
              </a:lnSpc>
            </a:pPr>
            <a:r>
              <a:rPr lang="fr-FR" altLang="en-US" sz="6425" b="1">
                <a:solidFill>
                  <a:srgbClr val="121D27"/>
                </a:solidFill>
                <a:latin typeface="Codec Pro Bold" panose="00000600000000000000"/>
                <a:ea typeface="Codec Pro Bold" panose="00000600000000000000"/>
                <a:cs typeface="Codec Pro Bold" panose="00000600000000000000"/>
                <a:sym typeface="Codec Pro Bold" panose="00000600000000000000"/>
              </a:rPr>
              <a:t>Méthodologie du travaille</a:t>
            </a:r>
            <a:r>
              <a:rPr lang="en-US" sz="6425" b="1">
                <a:solidFill>
                  <a:srgbClr val="121D27"/>
                </a:solidFill>
                <a:latin typeface="Codec Pro Bold" panose="00000600000000000000"/>
                <a:ea typeface="Codec Pro Bold" panose="00000600000000000000"/>
                <a:cs typeface="Codec Pro Bold" panose="00000600000000000000"/>
                <a:sym typeface="Codec Pro Bold" panose="00000600000000000000"/>
              </a:rPr>
              <a:t> </a:t>
            </a:r>
            <a:endParaRPr lang="en-US" sz="6425"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6" name="TextBox 6"/>
          <p:cNvSpPr txBox="1"/>
          <p:nvPr/>
        </p:nvSpPr>
        <p:spPr>
          <a:xfrm>
            <a:off x="1028700" y="4581473"/>
            <a:ext cx="6416268" cy="466725"/>
          </a:xfrm>
          <a:prstGeom prst="rect">
            <a:avLst/>
          </a:prstGeom>
        </p:spPr>
        <p:txBody>
          <a:bodyPr lIns="0" tIns="0" rIns="0" bIns="0" rtlCol="0" anchor="t">
            <a:spAutoFit/>
          </a:bodyPr>
          <a:lstStyle/>
          <a:p>
            <a:pPr algn="l">
              <a:lnSpc>
                <a:spcPts val="3640"/>
              </a:lnSpc>
            </a:pPr>
            <a:r>
              <a:rPr lang="fr-FR" altLang="en-US" sz="2800">
                <a:solidFill>
                  <a:srgbClr val="121D27"/>
                </a:solidFill>
                <a:latin typeface="Codec Pro" panose="00000500000000000000"/>
                <a:ea typeface="Codec Pro" panose="00000500000000000000"/>
                <a:cs typeface="Codec Pro" panose="00000500000000000000"/>
                <a:sym typeface="Codec Pro" panose="00000500000000000000"/>
              </a:rPr>
              <a:t>COMMENT ON A FAIT ?</a:t>
            </a:r>
            <a:endParaRPr lang="fr-FR" altLang="en-US" sz="2800">
              <a:solidFill>
                <a:srgbClr val="121D27"/>
              </a:solidFill>
              <a:latin typeface="Codec Pro" panose="00000500000000000000"/>
              <a:ea typeface="Codec Pro" panose="00000500000000000000"/>
              <a:cs typeface="Codec Pro" panose="00000500000000000000"/>
              <a:sym typeface="Codec Pro" panose="00000500000000000000"/>
            </a:endParaRPr>
          </a:p>
        </p:txBody>
      </p:sp>
      <p:sp>
        <p:nvSpPr>
          <p:cNvPr id="9" name="Zone de texte 8"/>
          <p:cNvSpPr txBox="1"/>
          <p:nvPr/>
        </p:nvSpPr>
        <p:spPr>
          <a:xfrm>
            <a:off x="9372600" y="1028700"/>
            <a:ext cx="7134225" cy="9217660"/>
          </a:xfrm>
          <a:prstGeom prst="rect">
            <a:avLst/>
          </a:prstGeom>
          <a:noFill/>
        </p:spPr>
        <p:txBody>
          <a:bodyPr wrap="square" rtlCol="0">
            <a:noAutofit/>
          </a:bodyPr>
          <a:p>
            <a:r>
              <a:rPr lang="fr-FR" altLang="en-US" sz="3200" b="1">
                <a:solidFill>
                  <a:srgbClr val="EEEEEE"/>
                </a:solidFill>
                <a:latin typeface="Codec Pro Bold" panose="00000600000000000000"/>
                <a:ea typeface="Codec Pro Bold" panose="00000600000000000000"/>
                <a:cs typeface="Codec Pro Bold" panose="00000600000000000000"/>
                <a:sym typeface="Codec Pro Bold" panose="00000600000000000000"/>
              </a:rPr>
              <a:t>Nous avons importé les libraries importantes pandas et numpy, matplotlibet seabon, puis utilisé les fonctions intégrées pour créer le fichier .ipynb vec toutes les données analysées et le notoyagge des données nécessaires pour le tableau de bord D’abord vous telecharger les package dans le terminal de l’ordinateur pour que les fichier de code du tableau de bord puissent s’executer, puis nous créons un fichier ou ce fichier de code va etre placer + son script cd :(chemin du fichier) dash-env\Scripts\activate python app.py Résultat: https://127.0.0.1:8050 Et nous l’ouvreon dans notre tableau de bord de choix.</a:t>
            </a:r>
            <a:endParaRPr lang="fr-FR" altLang="en-US" sz="3200">
              <a:solidFill>
                <a:srgbClr val="EEEEEE"/>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93BFCE"/>
        </a:solidFill>
        <a:effectLst/>
      </p:bgPr>
    </p:bg>
    <p:spTree>
      <p:nvGrpSpPr>
        <p:cNvPr id="1" name=""/>
        <p:cNvGrpSpPr/>
        <p:nvPr/>
      </p:nvGrpSpPr>
      <p:grpSpPr>
        <a:xfrm>
          <a:off x="0" y="0"/>
          <a:ext cx="0" cy="0"/>
          <a:chOff x="0" y="0"/>
          <a:chExt cx="0" cy="0"/>
        </a:xfrm>
      </p:grpSpPr>
      <p:sp>
        <p:nvSpPr>
          <p:cNvPr id="2" name="TextBox 2"/>
          <p:cNvSpPr txBox="1"/>
          <p:nvPr/>
        </p:nvSpPr>
        <p:spPr>
          <a:xfrm>
            <a:off x="1028700" y="1057910"/>
            <a:ext cx="16231235" cy="1384935"/>
          </a:xfrm>
          <a:prstGeom prst="rect">
            <a:avLst/>
          </a:prstGeom>
        </p:spPr>
        <p:txBody>
          <a:bodyPr wrap="square" lIns="0" tIns="0" rIns="0" bIns="0" rtlCol="0" anchor="t">
            <a:spAutoFit/>
          </a:bodyPr>
          <a:lstStyle/>
          <a:p>
            <a:pPr algn="ctr">
              <a:lnSpc>
                <a:spcPts val="10800"/>
              </a:lnSpc>
            </a:pPr>
            <a:r>
              <a:rPr lang="fr-FR" altLang="en-US" sz="9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rPr>
              <a:t>Data-set + Preperation:</a:t>
            </a:r>
            <a:endParaRPr lang="fr-FR" altLang="en-US" sz="9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endParaRPr>
          </a:p>
        </p:txBody>
      </p:sp>
      <p:grpSp>
        <p:nvGrpSpPr>
          <p:cNvPr id="3" name="Group 3"/>
          <p:cNvGrpSpPr/>
          <p:nvPr>
            <p:custDataLst>
              <p:tags r:id="rId1"/>
            </p:custDataLst>
          </p:nvPr>
        </p:nvGrpSpPr>
        <p:grpSpPr>
          <a:xfrm rot="0">
            <a:off x="1028700" y="3390948"/>
            <a:ext cx="7810623" cy="2384943"/>
            <a:chOff x="0" y="-16391"/>
            <a:chExt cx="1589993" cy="485498"/>
          </a:xfrm>
        </p:grpSpPr>
        <p:sp>
          <p:nvSpPr>
            <p:cNvPr id="4" name="Freeform 4"/>
            <p:cNvSpPr/>
            <p:nvPr>
              <p:custDataLst>
                <p:tags r:id="rId2"/>
              </p:custDataLst>
            </p:nvPr>
          </p:nvSpPr>
          <p:spPr>
            <a:xfrm>
              <a:off x="0" y="0"/>
              <a:ext cx="1572155" cy="418823"/>
            </a:xfrm>
            <a:custGeom>
              <a:avLst/>
              <a:gdLst/>
              <a:ahLst/>
              <a:cxnLst/>
              <a:rect l="l" t="t" r="r" b="b"/>
              <a:pathLst>
                <a:path w="1572155" h="418823">
                  <a:moveTo>
                    <a:pt x="0" y="0"/>
                  </a:moveTo>
                  <a:lnTo>
                    <a:pt x="1572155" y="0"/>
                  </a:lnTo>
                  <a:lnTo>
                    <a:pt x="1572155" y="418823"/>
                  </a:lnTo>
                  <a:lnTo>
                    <a:pt x="0" y="418823"/>
                  </a:lnTo>
                  <a:close/>
                </a:path>
              </a:pathLst>
            </a:custGeom>
            <a:solidFill>
              <a:srgbClr val="E6F2F7"/>
            </a:solidFill>
          </p:spPr>
        </p:sp>
        <p:sp>
          <p:nvSpPr>
            <p:cNvPr id="5" name="TextBox 5"/>
            <p:cNvSpPr txBox="1"/>
            <p:nvPr>
              <p:custDataLst>
                <p:tags r:id="rId3"/>
              </p:custDataLst>
            </p:nvPr>
          </p:nvSpPr>
          <p:spPr>
            <a:xfrm>
              <a:off x="17838" y="-16391"/>
              <a:ext cx="1572155" cy="485498"/>
            </a:xfrm>
            <a:prstGeom prst="rect">
              <a:avLst/>
            </a:prstGeom>
          </p:spPr>
          <p:txBody>
            <a:bodyPr lIns="254000" tIns="254000" rIns="254000" bIns="254000" rtlCol="0" anchor="ctr"/>
            <a:lstStyle/>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Source : Kaggle – Online Retail Dataset</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Transactions e-commerce r</a:t>
              </a:r>
              <a:r>
                <a:rPr lang="en-US" altLang="en-US" sz="2500">
                  <a:solidFill>
                    <a:srgbClr val="000000"/>
                  </a:solidFill>
                  <a:latin typeface="Codec Pro" panose="00000500000000000000"/>
                  <a:ea typeface="Codec Pro" panose="00000500000000000000"/>
                  <a:cs typeface="Codec Pro" panose="00000500000000000000"/>
                  <a:sym typeface="Codec Pro" panose="00000500000000000000"/>
                </a:rPr>
                <a:t>é</a:t>
              </a: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elles</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Entre 01/12/2010 et 09/12/2011</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Donn</a:t>
              </a:r>
              <a:r>
                <a:rPr lang="en-US" altLang="en-US" sz="2500">
                  <a:solidFill>
                    <a:srgbClr val="000000"/>
                  </a:solidFill>
                  <a:latin typeface="Codec Pro" panose="00000500000000000000"/>
                  <a:ea typeface="Codec Pro" panose="00000500000000000000"/>
                  <a:cs typeface="Codec Pro" panose="00000500000000000000"/>
                  <a:sym typeface="Codec Pro" panose="00000500000000000000"/>
                </a:rPr>
                <a:t>é</a:t>
              </a: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es au format CSV</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p:txBody>
        </p:sp>
      </p:grpSp>
      <p:grpSp>
        <p:nvGrpSpPr>
          <p:cNvPr id="6" name="Group 6"/>
          <p:cNvGrpSpPr/>
          <p:nvPr>
            <p:custDataLst>
              <p:tags r:id="rId4"/>
            </p:custDataLst>
          </p:nvPr>
        </p:nvGrpSpPr>
        <p:grpSpPr>
          <a:xfrm rot="0">
            <a:off x="838200" y="5905501"/>
            <a:ext cx="7810500" cy="3305175"/>
            <a:chOff x="-17839" y="-35340"/>
            <a:chExt cx="1589994" cy="485498"/>
          </a:xfrm>
        </p:grpSpPr>
        <p:sp>
          <p:nvSpPr>
            <p:cNvPr id="7" name="Freeform 7"/>
            <p:cNvSpPr/>
            <p:nvPr>
              <p:custDataLst>
                <p:tags r:id="rId5"/>
              </p:custDataLst>
            </p:nvPr>
          </p:nvSpPr>
          <p:spPr>
            <a:xfrm>
              <a:off x="0" y="0"/>
              <a:ext cx="1572155" cy="418823"/>
            </a:xfrm>
            <a:custGeom>
              <a:avLst/>
              <a:gdLst/>
              <a:ahLst/>
              <a:cxnLst/>
              <a:rect l="l" t="t" r="r" b="b"/>
              <a:pathLst>
                <a:path w="1572155" h="418823">
                  <a:moveTo>
                    <a:pt x="0" y="0"/>
                  </a:moveTo>
                  <a:lnTo>
                    <a:pt x="1572155" y="0"/>
                  </a:lnTo>
                  <a:lnTo>
                    <a:pt x="1572155" y="418823"/>
                  </a:lnTo>
                  <a:lnTo>
                    <a:pt x="0" y="418823"/>
                  </a:lnTo>
                  <a:close/>
                </a:path>
              </a:pathLst>
            </a:custGeom>
            <a:solidFill>
              <a:srgbClr val="E6F2F7"/>
            </a:solidFill>
          </p:spPr>
        </p:sp>
        <p:sp>
          <p:nvSpPr>
            <p:cNvPr id="8" name="TextBox 8"/>
            <p:cNvSpPr txBox="1"/>
            <p:nvPr>
              <p:custDataLst>
                <p:tags r:id="rId6"/>
              </p:custDataLst>
            </p:nvPr>
          </p:nvSpPr>
          <p:spPr>
            <a:xfrm>
              <a:off x="-17839" y="-35340"/>
              <a:ext cx="1572155" cy="485498"/>
            </a:xfrm>
            <a:prstGeom prst="rect">
              <a:avLst/>
            </a:prstGeom>
          </p:spPr>
          <p:txBody>
            <a:bodyPr lIns="254000" tIns="254000" rIns="254000" bIns="254000" rtlCol="0" anchor="ctr"/>
            <a:lstStyle/>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InvoiceNo (commande)</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CustomerID (client)</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Description (produit)</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Quantity, UnitPrice</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InvoiceDate</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Country</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p:txBody>
        </p:sp>
      </p:grpSp>
      <p:grpSp>
        <p:nvGrpSpPr>
          <p:cNvPr id="12" name="Group 12"/>
          <p:cNvGrpSpPr/>
          <p:nvPr>
            <p:custDataLst>
              <p:tags r:id="rId7"/>
            </p:custDataLst>
          </p:nvPr>
        </p:nvGrpSpPr>
        <p:grpSpPr>
          <a:xfrm rot="0">
            <a:off x="8839202" y="3848103"/>
            <a:ext cx="7913368" cy="4117975"/>
            <a:chOff x="-38780" y="82726"/>
            <a:chExt cx="1610935" cy="770294"/>
          </a:xfrm>
        </p:grpSpPr>
        <p:sp>
          <p:nvSpPr>
            <p:cNvPr id="13" name="Freeform 13"/>
            <p:cNvSpPr/>
            <p:nvPr>
              <p:custDataLst>
                <p:tags r:id="rId8"/>
              </p:custDataLst>
            </p:nvPr>
          </p:nvSpPr>
          <p:spPr>
            <a:xfrm>
              <a:off x="0" y="168248"/>
              <a:ext cx="1572155" cy="617898"/>
            </a:xfrm>
            <a:custGeom>
              <a:avLst/>
              <a:gdLst/>
              <a:ahLst/>
              <a:cxnLst/>
              <a:rect l="l" t="t" r="r" b="b"/>
              <a:pathLst>
                <a:path w="1572155" h="418823">
                  <a:moveTo>
                    <a:pt x="0" y="0"/>
                  </a:moveTo>
                  <a:lnTo>
                    <a:pt x="1572155" y="0"/>
                  </a:lnTo>
                  <a:lnTo>
                    <a:pt x="1572155" y="418823"/>
                  </a:lnTo>
                  <a:lnTo>
                    <a:pt x="0" y="418823"/>
                  </a:lnTo>
                  <a:close/>
                </a:path>
              </a:pathLst>
            </a:custGeom>
            <a:solidFill>
              <a:srgbClr val="E6F2F7"/>
            </a:solidFill>
          </p:spPr>
        </p:sp>
        <p:sp>
          <p:nvSpPr>
            <p:cNvPr id="14" name="TextBox 14"/>
            <p:cNvSpPr txBox="1"/>
            <p:nvPr>
              <p:custDataLst>
                <p:tags r:id="rId9"/>
              </p:custDataLst>
            </p:nvPr>
          </p:nvSpPr>
          <p:spPr>
            <a:xfrm>
              <a:off x="-38780" y="82726"/>
              <a:ext cx="1572129" cy="770294"/>
            </a:xfrm>
            <a:prstGeom prst="rect">
              <a:avLst/>
            </a:prstGeom>
          </p:spPr>
          <p:txBody>
            <a:bodyPr lIns="254000" tIns="254000" rIns="254000" bIns="254000" rtlCol="0" anchor="ctr"/>
            <a:lstStyle/>
            <a:p>
              <a:pPr algn="ctr">
                <a:lnSpc>
                  <a:spcPts val="3250"/>
                </a:lnSpc>
              </a:pPr>
              <a:r>
                <a:rPr lang="" altLang="en-US" sz="2500">
                  <a:solidFill>
                    <a:srgbClr val="000000"/>
                  </a:solidFill>
                  <a:latin typeface="Codec Pro" panose="00000500000000000000"/>
                  <a:ea typeface="Codec Pro" panose="00000500000000000000"/>
                  <a:cs typeface="Codec Pro" panose="00000500000000000000"/>
                  <a:sym typeface="Codec Pro" panose="00000500000000000000"/>
                </a:rPr>
                <a:t>É</a:t>
              </a: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tapes de nettoyage :</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Suppression des lignes sans CustomerID</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Suppression des quantit</a:t>
              </a:r>
              <a:r>
                <a:rPr lang="en-US" altLang="en-US" sz="2500">
                  <a:solidFill>
                    <a:srgbClr val="000000"/>
                  </a:solidFill>
                  <a:latin typeface="Codec Pro" panose="00000500000000000000"/>
                  <a:ea typeface="Codec Pro" panose="00000500000000000000"/>
                  <a:cs typeface="Codec Pro" panose="00000500000000000000"/>
                  <a:sym typeface="Codec Pro" panose="00000500000000000000"/>
                </a:rPr>
                <a:t>é</a:t>
              </a: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s n</a:t>
              </a:r>
              <a:r>
                <a:rPr lang="en-US" altLang="en-US" sz="2500">
                  <a:solidFill>
                    <a:srgbClr val="000000"/>
                  </a:solidFill>
                  <a:latin typeface="Codec Pro" panose="00000500000000000000"/>
                  <a:ea typeface="Codec Pro" panose="00000500000000000000"/>
                  <a:cs typeface="Codec Pro" panose="00000500000000000000"/>
                  <a:sym typeface="Codec Pro" panose="00000500000000000000"/>
                </a:rPr>
                <a:t>é</a:t>
              </a: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gatives</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Conversion des dates (InvoiceDate)</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Cr</a:t>
              </a:r>
              <a:r>
                <a:rPr lang="en-US" altLang="en-US" sz="2500">
                  <a:solidFill>
                    <a:srgbClr val="000000"/>
                  </a:solidFill>
                  <a:latin typeface="Codec Pro" panose="00000500000000000000"/>
                  <a:ea typeface="Codec Pro" panose="00000500000000000000"/>
                  <a:cs typeface="Codec Pro" panose="00000500000000000000"/>
                  <a:sym typeface="Codec Pro" panose="00000500000000000000"/>
                </a:rPr>
                <a:t>é</a:t>
              </a: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ation de la variable TotalAmount = Quantity </a:t>
              </a:r>
              <a:r>
                <a:rPr lang="en-US" altLang="en-US" sz="2500">
                  <a:solidFill>
                    <a:srgbClr val="000000"/>
                  </a:solidFill>
                  <a:latin typeface="Codec Pro" panose="00000500000000000000"/>
                  <a:ea typeface="Codec Pro" panose="00000500000000000000"/>
                  <a:cs typeface="Codec Pro" panose="00000500000000000000"/>
                  <a:sym typeface="Codec Pro" panose="00000500000000000000"/>
                </a:rPr>
                <a:t>×</a:t>
              </a: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 UnitPrice</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a:p>
              <a:pPr algn="ctr">
                <a:lnSpc>
                  <a:spcPts val="3250"/>
                </a:lnSpc>
              </a:pPr>
              <a:r>
                <a:rPr lang="en-US" altLang="fr-FR" sz="2500">
                  <a:solidFill>
                    <a:srgbClr val="000000"/>
                  </a:solidFill>
                  <a:latin typeface="Codec Pro" panose="00000500000000000000"/>
                  <a:ea typeface="Codec Pro" panose="00000500000000000000"/>
                  <a:cs typeface="Codec Pro" panose="00000500000000000000"/>
                  <a:sym typeface="Codec Pro" panose="00000500000000000000"/>
                </a:rPr>
                <a:t>Suppression des doublons</a:t>
              </a:r>
              <a:endParaRPr lang="en-US" altLang="fr-FR" sz="2500">
                <a:solidFill>
                  <a:srgbClr val="000000"/>
                </a:solidFill>
                <a:latin typeface="Codec Pro" panose="00000500000000000000"/>
                <a:ea typeface="Codec Pro" panose="00000500000000000000"/>
                <a:cs typeface="Codec Pro" panose="00000500000000000000"/>
                <a:sym typeface="Codec Pro" panose="00000500000000000000"/>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8288000" cy="3908560"/>
          </a:xfrm>
          <a:prstGeom prst="rect">
            <a:avLst/>
          </a:prstGeom>
          <a:solidFill>
            <a:srgbClr val="0C485F"/>
          </a:solidFill>
        </p:spPr>
      </p:sp>
      <p:sp>
        <p:nvSpPr>
          <p:cNvPr id="3" name="TextBox 3"/>
          <p:cNvSpPr txBox="1"/>
          <p:nvPr/>
        </p:nvSpPr>
        <p:spPr>
          <a:xfrm>
            <a:off x="1028700" y="933450"/>
            <a:ext cx="7538080" cy="2000250"/>
          </a:xfrm>
          <a:prstGeom prst="rect">
            <a:avLst/>
          </a:prstGeom>
        </p:spPr>
        <p:txBody>
          <a:bodyPr lIns="0" tIns="0" rIns="0" bIns="0" rtlCol="0" anchor="t">
            <a:spAutoFit/>
          </a:bodyPr>
          <a:lstStyle/>
          <a:p>
            <a:pPr algn="l">
              <a:lnSpc>
                <a:spcPts val="7800"/>
              </a:lnSpc>
            </a:pPr>
            <a:r>
              <a:rPr lang="fr-FR" altLang="en-US" sz="65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rPr>
              <a:t>Méthodologie du travaille</a:t>
            </a:r>
            <a:endParaRPr lang="fr-FR" altLang="en-US" sz="65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endParaRPr>
          </a:p>
        </p:txBody>
      </p:sp>
      <p:grpSp>
        <p:nvGrpSpPr>
          <p:cNvPr id="6" name="Group 6"/>
          <p:cNvGrpSpPr/>
          <p:nvPr/>
        </p:nvGrpSpPr>
        <p:grpSpPr>
          <a:xfrm rot="0">
            <a:off x="10820887" y="1250135"/>
            <a:ext cx="6134175" cy="1396619"/>
            <a:chOff x="0" y="0"/>
            <a:chExt cx="8178900" cy="1862159"/>
          </a:xfrm>
        </p:grpSpPr>
        <p:sp>
          <p:nvSpPr>
            <p:cNvPr id="7" name="TextBox 7"/>
            <p:cNvSpPr txBox="1"/>
            <p:nvPr/>
          </p:nvSpPr>
          <p:spPr>
            <a:xfrm>
              <a:off x="0" y="1359687"/>
              <a:ext cx="8178900" cy="502497"/>
            </a:xfrm>
            <a:prstGeom prst="rect">
              <a:avLst/>
            </a:prstGeom>
          </p:spPr>
          <p:txBody>
            <a:bodyPr lIns="0" tIns="0" rIns="0" bIns="0" rtlCol="0" anchor="t">
              <a:spAutoFit/>
            </a:bodyPr>
            <a:lstStyle/>
            <a:p>
              <a:pPr marL="474980" lvl="1" indent="-237490" algn="l">
                <a:lnSpc>
                  <a:spcPts val="2860"/>
                </a:lnSpc>
                <a:buFont typeface="Arial" panose="020B0604020202020204"/>
                <a:buChar char="•"/>
              </a:pPr>
              <a:r>
                <a:rPr lang="en-US" sz="2200">
                  <a:solidFill>
                    <a:srgbClr val="FFFFFF"/>
                  </a:solidFill>
                  <a:latin typeface="Codec Pro" panose="00000500000000000000"/>
                  <a:ea typeface="Codec Pro" panose="00000500000000000000"/>
                  <a:cs typeface="Codec Pro" panose="00000500000000000000"/>
                  <a:sym typeface="Codec Pro" panose="00000500000000000000"/>
                </a:rPr>
                <a:t>Expliquez brièvement l'observation.</a:t>
              </a:r>
              <a:endParaRPr lang="en-US" sz="2200">
                <a:solidFill>
                  <a:srgbClr val="FFFFFF"/>
                </a:solidFill>
                <a:latin typeface="Codec Pro" panose="00000500000000000000"/>
                <a:ea typeface="Codec Pro" panose="00000500000000000000"/>
                <a:cs typeface="Codec Pro" panose="00000500000000000000"/>
                <a:sym typeface="Codec Pro" panose="00000500000000000000"/>
              </a:endParaRPr>
            </a:p>
          </p:txBody>
        </p:sp>
        <p:sp>
          <p:nvSpPr>
            <p:cNvPr id="8" name="TextBox 8"/>
            <p:cNvSpPr txBox="1"/>
            <p:nvPr/>
          </p:nvSpPr>
          <p:spPr>
            <a:xfrm>
              <a:off x="0" y="-66675"/>
              <a:ext cx="8178900" cy="1092411"/>
            </a:xfrm>
            <a:prstGeom prst="rect">
              <a:avLst/>
            </a:prstGeom>
          </p:spPr>
          <p:txBody>
            <a:bodyPr lIns="0" tIns="0" rIns="0" bIns="0" rtlCol="0" anchor="t">
              <a:spAutoFit/>
            </a:bodyPr>
            <a:lstStyle/>
            <a:p>
              <a:pPr algn="l">
                <a:lnSpc>
                  <a:spcPts val="3150"/>
                </a:lnSpc>
              </a:pPr>
              <a:r>
                <a:rPr lang="en-US" sz="2425">
                  <a:solidFill>
                    <a:srgbClr val="FFFFFF"/>
                  </a:solidFill>
                  <a:latin typeface="Codec Pro" panose="00000500000000000000"/>
                  <a:ea typeface="Codec Pro" panose="00000500000000000000"/>
                  <a:cs typeface="Codec Pro" panose="00000500000000000000"/>
                  <a:sym typeface="Codec Pro" panose="00000500000000000000"/>
                </a:rPr>
                <a:t>Écrivez une observation pertinente sur les tendances récentes du secteur d'activités</a:t>
              </a:r>
              <a:endParaRPr lang="en-US" sz="2425">
                <a:solidFill>
                  <a:srgbClr val="FFFFFF"/>
                </a:solidFill>
                <a:latin typeface="Codec Pro" panose="00000500000000000000"/>
                <a:ea typeface="Codec Pro" panose="00000500000000000000"/>
                <a:cs typeface="Codec Pro" panose="00000500000000000000"/>
                <a:sym typeface="Codec Pro" panose="00000500000000000000"/>
              </a:endParaRPr>
            </a:p>
          </p:txBody>
        </p:sp>
      </p:grpSp>
      <p:sp>
        <p:nvSpPr>
          <p:cNvPr id="11" name="Zone de texte 10"/>
          <p:cNvSpPr txBox="1"/>
          <p:nvPr/>
        </p:nvSpPr>
        <p:spPr>
          <a:xfrm>
            <a:off x="457200" y="5049520"/>
            <a:ext cx="5333365" cy="3726180"/>
          </a:xfrm>
          <a:prstGeom prst="rect">
            <a:avLst/>
          </a:prstGeom>
          <a:noFill/>
        </p:spPr>
        <p:txBody>
          <a:bodyPr wrap="square" rtlCol="0">
            <a:noAutofit/>
          </a:bodyPr>
          <a:p>
            <a:endParaRPr lang="fr-FR" altLang="en-US"/>
          </a:p>
        </p:txBody>
      </p:sp>
      <p:sp>
        <p:nvSpPr>
          <p:cNvPr id="13" name="Zone de texte 12"/>
          <p:cNvSpPr txBox="1"/>
          <p:nvPr/>
        </p:nvSpPr>
        <p:spPr>
          <a:xfrm>
            <a:off x="15240" y="3908425"/>
            <a:ext cx="4486275" cy="3263900"/>
          </a:xfrm>
          <a:prstGeom prst="rect">
            <a:avLst/>
          </a:prstGeom>
          <a:solidFill>
            <a:srgbClr val="13698D">
              <a:alpha val="90000"/>
            </a:srgbClr>
          </a:solidFill>
        </p:spPr>
        <p:txBody>
          <a:bodyPr wrap="square" rtlCol="0">
            <a:noAutofit/>
          </a:bodyPr>
          <a:p>
            <a:r>
              <a:rPr lang="fr-FR" altLang="en-US" sz="3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rPr>
              <a:t>Analyse de vente:</a:t>
            </a:r>
            <a:endParaRPr lang="fr-FR" altLang="en-US" sz="3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3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rPr>
              <a:t>Chiffre d’affaire totale:</a:t>
            </a:r>
            <a:endParaRPr lang="fr-FR" altLang="en-US" sz="3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3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rPr>
              <a:t>Nombre de transaction</a:t>
            </a:r>
            <a:endParaRPr lang="fr-FR" altLang="en-US" sz="3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3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rPr>
              <a:t>Panier moyen</a:t>
            </a:r>
            <a:endParaRPr lang="fr-FR" altLang="en-US" sz="3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3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rPr>
              <a:t>Evolution du chiffre daffaire dans le temps</a:t>
            </a:r>
            <a:endParaRPr lang="fr-FR" altLang="en-US" sz="3000" b="1">
              <a:solidFill>
                <a:schemeClr val="bg1">
                  <a:lumMod val="85000"/>
                </a:schemeClr>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14" name="Zone de texte 13"/>
          <p:cNvSpPr txBox="1"/>
          <p:nvPr/>
        </p:nvSpPr>
        <p:spPr>
          <a:xfrm>
            <a:off x="4495800" y="7172960"/>
            <a:ext cx="4570095" cy="3136265"/>
          </a:xfrm>
          <a:prstGeom prst="rect">
            <a:avLst/>
          </a:prstGeom>
          <a:solidFill>
            <a:srgbClr val="8FBFD0">
              <a:alpha val="67000"/>
            </a:srgbClr>
          </a:solidFill>
        </p:spPr>
        <p:txBody>
          <a:bodyPr wrap="square" rtlCol="0">
            <a:noAutofit/>
          </a:bodyPr>
          <a:p>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Analyse client (3.2)</a:t>
            </a:r>
            <a:endPar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pPr indent="0">
              <a:buNone/>
            </a:pPr>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Nombre de clients actifs</a:t>
            </a:r>
            <a:endPar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pPr indent="0">
              <a:buNone/>
            </a:pPr>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Fr</a:t>
            </a:r>
            <a:r>
              <a:rPr lang="en-US" altLang="en-US" sz="2400" b="1">
                <a:solidFill>
                  <a:srgbClr val="121D27"/>
                </a:solidFill>
                <a:latin typeface="Codec Pro Bold" panose="00000600000000000000"/>
                <a:ea typeface="Codec Pro Bold" panose="00000600000000000000"/>
                <a:cs typeface="Codec Pro Bold" panose="00000600000000000000"/>
                <a:sym typeface="Codec Pro Bold" panose="00000600000000000000"/>
              </a:rPr>
              <a:t>é</a:t>
            </a:r>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quence d’achat</a:t>
            </a:r>
            <a:endPar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pPr indent="0">
              <a:buNone/>
            </a:pPr>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Fid</a:t>
            </a:r>
            <a:r>
              <a:rPr lang="en-US" altLang="en-US" sz="2400" b="1">
                <a:solidFill>
                  <a:srgbClr val="121D27"/>
                </a:solidFill>
                <a:latin typeface="Codec Pro Bold" panose="00000600000000000000"/>
                <a:ea typeface="Codec Pro Bold" panose="00000600000000000000"/>
                <a:cs typeface="Codec Pro Bold" panose="00000600000000000000"/>
                <a:sym typeface="Codec Pro Bold" panose="00000600000000000000"/>
              </a:rPr>
              <a:t>é</a:t>
            </a:r>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lit</a:t>
            </a:r>
            <a:r>
              <a:rPr lang="en-US" altLang="en-US" sz="2400" b="1">
                <a:solidFill>
                  <a:srgbClr val="121D27"/>
                </a:solidFill>
                <a:latin typeface="Codec Pro Bold" panose="00000600000000000000"/>
                <a:ea typeface="Codec Pro Bold" panose="00000600000000000000"/>
                <a:cs typeface="Codec Pro Bold" panose="00000600000000000000"/>
                <a:sym typeface="Codec Pro Bold" panose="00000600000000000000"/>
              </a:rPr>
              <a:t>é</a:t>
            </a:r>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 client</a:t>
            </a:r>
            <a:r>
              <a:rPr lang="fr-FR" altLang="en-US" sz="2400" b="1">
                <a:solidFill>
                  <a:srgbClr val="121D27"/>
                </a:solidFill>
                <a:latin typeface="Codec Pro Bold" panose="00000600000000000000"/>
                <a:ea typeface="Codec Pro Bold" panose="00000600000000000000"/>
                <a:cs typeface="Codec Pro Bold" panose="00000600000000000000"/>
                <a:sym typeface="Codec Pro Bold" panose="00000600000000000000"/>
              </a:rPr>
              <a:t> </a:t>
            </a:r>
            <a:endParaRPr lang="fr-FR" altLang="en-US" sz="2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pPr indent="0">
              <a:buNone/>
            </a:pPr>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Recency : r</a:t>
            </a:r>
            <a:r>
              <a:rPr lang="en-US" altLang="en-US" sz="2400" b="1">
                <a:solidFill>
                  <a:srgbClr val="121D27"/>
                </a:solidFill>
                <a:latin typeface="Codec Pro Bold" panose="00000600000000000000"/>
                <a:ea typeface="Codec Pro Bold" panose="00000600000000000000"/>
                <a:cs typeface="Codec Pro Bold" panose="00000600000000000000"/>
                <a:sym typeface="Codec Pro Bold" panose="00000600000000000000"/>
              </a:rPr>
              <a:t>é</a:t>
            </a:r>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cence d’achat</a:t>
            </a:r>
            <a:endPar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pPr indent="0">
              <a:buNone/>
            </a:pPr>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Frequency : nombre de commandes</a:t>
            </a:r>
            <a:endPar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pPr indent="0">
              <a:buNone/>
            </a:pPr>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Monetary : montant d</a:t>
            </a:r>
            <a:r>
              <a:rPr lang="en-US" altLang="en-US" sz="2400" b="1">
                <a:solidFill>
                  <a:srgbClr val="121D27"/>
                </a:solidFill>
                <a:latin typeface="Codec Pro Bold" panose="00000600000000000000"/>
                <a:ea typeface="Codec Pro Bold" panose="00000600000000000000"/>
                <a:cs typeface="Codec Pro Bold" panose="00000600000000000000"/>
                <a:sym typeface="Codec Pro Bold" panose="00000600000000000000"/>
              </a:rPr>
              <a:t>é</a:t>
            </a:r>
            <a:r>
              <a:rPr lang="en-US" altLang="fr-FR" sz="2400" b="1">
                <a:solidFill>
                  <a:srgbClr val="121D27"/>
                </a:solidFill>
                <a:latin typeface="Codec Pro Bold" panose="00000600000000000000"/>
                <a:ea typeface="Codec Pro Bold" panose="00000600000000000000"/>
                <a:cs typeface="Codec Pro Bold" panose="00000600000000000000"/>
                <a:sym typeface="Codec Pro Bold" panose="00000600000000000000"/>
              </a:rPr>
              <a:t>pens</a:t>
            </a:r>
            <a:r>
              <a:rPr lang="en-US" altLang="en-US" sz="2400" b="1">
                <a:solidFill>
                  <a:srgbClr val="121D27"/>
                </a:solidFill>
                <a:latin typeface="Codec Pro Bold" panose="00000600000000000000"/>
                <a:ea typeface="Codec Pro Bold" panose="00000600000000000000"/>
                <a:cs typeface="Codec Pro Bold" panose="00000600000000000000"/>
                <a:sym typeface="Codec Pro Bold" panose="00000600000000000000"/>
              </a:rPr>
              <a:t>é</a:t>
            </a:r>
            <a:endParaRPr lang="en-US" altLang="en-US" sz="2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15" name="Zone de texte 14"/>
          <p:cNvSpPr txBox="1"/>
          <p:nvPr/>
        </p:nvSpPr>
        <p:spPr>
          <a:xfrm>
            <a:off x="9067800" y="3908425"/>
            <a:ext cx="4559935" cy="3264535"/>
          </a:xfrm>
          <a:prstGeom prst="rect">
            <a:avLst/>
          </a:prstGeom>
          <a:solidFill>
            <a:srgbClr val="8FBFD0">
              <a:alpha val="34000"/>
            </a:srgbClr>
          </a:solidFill>
        </p:spPr>
        <p:txBody>
          <a:bodyPr wrap="square" rtlCol="0">
            <a:noAutofit/>
          </a:bodyPr>
          <a:p>
            <a:r>
              <a:rPr lang="en-US" altLang="fr-FR">
                <a:solidFill>
                  <a:srgbClr val="121D27"/>
                </a:solidFill>
              </a:rPr>
              <a:t>Analyse produit (3.3)</a:t>
            </a:r>
            <a:endParaRPr lang="en-US" altLang="fr-FR">
              <a:solidFill>
                <a:srgbClr val="121D27"/>
              </a:solidFill>
            </a:endParaRPr>
          </a:p>
          <a:p>
            <a:r>
              <a:rPr lang="en-US" altLang="fr-FR">
                <a:solidFill>
                  <a:srgbClr val="121D27"/>
                </a:solidFill>
              </a:rPr>
              <a:t>Produits stars :</a:t>
            </a:r>
            <a:endParaRPr lang="en-US" altLang="fr-FR">
              <a:solidFill>
                <a:srgbClr val="121D27"/>
              </a:solidFill>
            </a:endParaRPr>
          </a:p>
          <a:p>
            <a:r>
              <a:rPr lang="en-US" altLang="en-US">
                <a:solidFill>
                  <a:srgbClr val="121D27"/>
                </a:solidFill>
              </a:rPr>
              <a:t></a:t>
            </a:r>
            <a:r>
              <a:rPr lang="en-US" altLang="fr-FR">
                <a:solidFill>
                  <a:srgbClr val="121D27"/>
                </a:solidFill>
              </a:rPr>
              <a:t>Forte quantit</a:t>
            </a:r>
            <a:r>
              <a:rPr lang="en-US" altLang="en-US">
                <a:solidFill>
                  <a:srgbClr val="121D27"/>
                </a:solidFill>
              </a:rPr>
              <a:t>é</a:t>
            </a:r>
            <a:r>
              <a:rPr lang="en-US" altLang="fr-FR">
                <a:solidFill>
                  <a:srgbClr val="121D27"/>
                </a:solidFill>
              </a:rPr>
              <a:t> vendue</a:t>
            </a:r>
            <a:endParaRPr lang="en-US" altLang="fr-FR">
              <a:solidFill>
                <a:srgbClr val="121D27"/>
              </a:solidFill>
            </a:endParaRPr>
          </a:p>
          <a:p>
            <a:r>
              <a:rPr lang="en-US" altLang="en-US">
                <a:solidFill>
                  <a:srgbClr val="121D27"/>
                </a:solidFill>
              </a:rPr>
              <a:t></a:t>
            </a:r>
            <a:r>
              <a:rPr lang="en-US" altLang="fr-FR">
                <a:solidFill>
                  <a:srgbClr val="121D27"/>
                </a:solidFill>
              </a:rPr>
              <a:t>Forte r</a:t>
            </a:r>
            <a:r>
              <a:rPr lang="en-US" altLang="en-US">
                <a:solidFill>
                  <a:srgbClr val="121D27"/>
                </a:solidFill>
              </a:rPr>
              <a:t>é</a:t>
            </a:r>
            <a:r>
              <a:rPr lang="en-US" altLang="fr-FR">
                <a:solidFill>
                  <a:srgbClr val="121D27"/>
                </a:solidFill>
              </a:rPr>
              <a:t>currence de commandes</a:t>
            </a:r>
            <a:endParaRPr lang="en-US" altLang="fr-FR">
              <a:solidFill>
                <a:srgbClr val="121D27"/>
              </a:solidFill>
            </a:endParaRPr>
          </a:p>
          <a:p>
            <a:r>
              <a:rPr lang="en-US" altLang="en-US">
                <a:solidFill>
                  <a:srgbClr val="121D27"/>
                </a:solidFill>
              </a:rPr>
              <a:t></a:t>
            </a:r>
            <a:r>
              <a:rPr lang="en-US" altLang="fr-FR">
                <a:solidFill>
                  <a:srgbClr val="121D27"/>
                </a:solidFill>
              </a:rPr>
              <a:t>Forte contribution au chiffre d’affaires</a:t>
            </a:r>
            <a:endParaRPr lang="en-US" altLang="fr-FR">
              <a:solidFill>
                <a:srgbClr val="121D27"/>
              </a:solidFill>
            </a:endParaRPr>
          </a:p>
          <a:p>
            <a:r>
              <a:rPr lang="en-US" altLang="fr-FR">
                <a:solidFill>
                  <a:srgbClr val="121D27"/>
                </a:solidFill>
              </a:rPr>
              <a:t>Produits peu performants :</a:t>
            </a:r>
            <a:endParaRPr lang="en-US" altLang="fr-FR">
              <a:solidFill>
                <a:srgbClr val="121D27"/>
              </a:solidFill>
            </a:endParaRPr>
          </a:p>
          <a:p>
            <a:r>
              <a:rPr lang="en-US" altLang="en-US">
                <a:solidFill>
                  <a:srgbClr val="121D27"/>
                </a:solidFill>
              </a:rPr>
              <a:t></a:t>
            </a:r>
            <a:r>
              <a:rPr lang="en-US" altLang="fr-FR">
                <a:solidFill>
                  <a:srgbClr val="121D27"/>
                </a:solidFill>
              </a:rPr>
              <a:t>Faible volume</a:t>
            </a:r>
            <a:endParaRPr lang="en-US" altLang="fr-FR">
              <a:solidFill>
                <a:srgbClr val="121D27"/>
              </a:solidFill>
            </a:endParaRPr>
          </a:p>
          <a:p>
            <a:r>
              <a:rPr lang="en-US" altLang="en-US">
                <a:solidFill>
                  <a:srgbClr val="121D27"/>
                </a:solidFill>
              </a:rPr>
              <a:t></a:t>
            </a:r>
            <a:r>
              <a:rPr lang="en-US" altLang="fr-FR">
                <a:solidFill>
                  <a:srgbClr val="121D27"/>
                </a:solidFill>
              </a:rPr>
              <a:t>Faible fr</a:t>
            </a:r>
            <a:r>
              <a:rPr lang="en-US" altLang="en-US">
                <a:solidFill>
                  <a:srgbClr val="121D27"/>
                </a:solidFill>
              </a:rPr>
              <a:t>é</a:t>
            </a:r>
            <a:r>
              <a:rPr lang="en-US" altLang="fr-FR">
                <a:solidFill>
                  <a:srgbClr val="121D27"/>
                </a:solidFill>
              </a:rPr>
              <a:t>quence</a:t>
            </a:r>
            <a:endParaRPr lang="en-US" altLang="fr-FR">
              <a:solidFill>
                <a:srgbClr val="121D27"/>
              </a:solidFill>
            </a:endParaRPr>
          </a:p>
          <a:p>
            <a:r>
              <a:rPr lang="en-US" altLang="en-US">
                <a:solidFill>
                  <a:srgbClr val="121D27"/>
                </a:solidFill>
              </a:rPr>
              <a:t></a:t>
            </a:r>
            <a:r>
              <a:rPr lang="en-US" altLang="fr-FR">
                <a:solidFill>
                  <a:srgbClr val="121D27"/>
                </a:solidFill>
              </a:rPr>
              <a:t>Impact limit</a:t>
            </a:r>
            <a:r>
              <a:rPr lang="en-US" altLang="en-US">
                <a:solidFill>
                  <a:srgbClr val="121D27"/>
                </a:solidFill>
              </a:rPr>
              <a:t>é</a:t>
            </a:r>
            <a:r>
              <a:rPr lang="en-US" altLang="fr-FR">
                <a:solidFill>
                  <a:srgbClr val="121D27"/>
                </a:solidFill>
              </a:rPr>
              <a:t> sur le CA</a:t>
            </a:r>
            <a:endParaRPr lang="en-US" altLang="fr-FR">
              <a:solidFill>
                <a:srgbClr val="121D27"/>
              </a:solidFill>
            </a:endParaRPr>
          </a:p>
        </p:txBody>
      </p:sp>
      <p:sp>
        <p:nvSpPr>
          <p:cNvPr id="16" name="Zone de texte 15"/>
          <p:cNvSpPr txBox="1"/>
          <p:nvPr/>
        </p:nvSpPr>
        <p:spPr>
          <a:xfrm>
            <a:off x="13667740" y="7084695"/>
            <a:ext cx="4610100" cy="3202305"/>
          </a:xfrm>
          <a:prstGeom prst="rect">
            <a:avLst/>
          </a:prstGeom>
          <a:pattFill prst="pct5">
            <a:fgClr>
              <a:srgbClr val="8FBFD0"/>
            </a:fgClr>
            <a:bgClr>
              <a:schemeClr val="bg1"/>
            </a:bgClr>
          </a:pattFill>
        </p:spPr>
        <p:txBody>
          <a:bodyPr wrap="square" rtlCol="0">
            <a:noAutofit/>
          </a:bodyPr>
          <a:p>
            <a:r>
              <a:rPr lang="en-US" altLang="fr-FR">
                <a:solidFill>
                  <a:srgbClr val="121D27"/>
                </a:solidFill>
              </a:rPr>
              <a:t>Analyse temporelle (3.4)</a:t>
            </a:r>
            <a:endParaRPr lang="en-US" altLang="fr-FR">
              <a:solidFill>
                <a:srgbClr val="121D27"/>
              </a:solidFill>
            </a:endParaRPr>
          </a:p>
          <a:p>
            <a:r>
              <a:rPr lang="en-US" altLang="en-US">
                <a:solidFill>
                  <a:srgbClr val="121D27"/>
                </a:solidFill>
              </a:rPr>
              <a:t></a:t>
            </a:r>
            <a:r>
              <a:rPr lang="en-US" altLang="fr-FR">
                <a:solidFill>
                  <a:srgbClr val="121D27"/>
                </a:solidFill>
              </a:rPr>
              <a:t>Saisonnalit</a:t>
            </a:r>
            <a:r>
              <a:rPr lang="en-US" altLang="en-US">
                <a:solidFill>
                  <a:srgbClr val="121D27"/>
                </a:solidFill>
              </a:rPr>
              <a:t>é</a:t>
            </a:r>
            <a:r>
              <a:rPr lang="en-US" altLang="fr-FR">
                <a:solidFill>
                  <a:srgbClr val="121D27"/>
                </a:solidFill>
              </a:rPr>
              <a:t> par :</a:t>
            </a:r>
            <a:endParaRPr lang="en-US" altLang="fr-FR">
              <a:solidFill>
                <a:srgbClr val="121D27"/>
              </a:solidFill>
            </a:endParaRPr>
          </a:p>
          <a:p>
            <a:r>
              <a:rPr lang="en-US" altLang="fr-FR">
                <a:solidFill>
                  <a:srgbClr val="121D27"/>
                </a:solidFill>
              </a:rPr>
              <a:t>oMois</a:t>
            </a:r>
            <a:endParaRPr lang="en-US" altLang="fr-FR">
              <a:solidFill>
                <a:srgbClr val="121D27"/>
              </a:solidFill>
            </a:endParaRPr>
          </a:p>
          <a:p>
            <a:r>
              <a:rPr lang="en-US" altLang="fr-FR">
                <a:solidFill>
                  <a:srgbClr val="121D27"/>
                </a:solidFill>
              </a:rPr>
              <a:t>oSemaine</a:t>
            </a:r>
            <a:endParaRPr lang="en-US" altLang="fr-FR">
              <a:solidFill>
                <a:srgbClr val="121D27"/>
              </a:solidFill>
            </a:endParaRPr>
          </a:p>
          <a:p>
            <a:r>
              <a:rPr lang="en-US" altLang="fr-FR">
                <a:solidFill>
                  <a:srgbClr val="121D27"/>
                </a:solidFill>
              </a:rPr>
              <a:t>oJour</a:t>
            </a:r>
            <a:endParaRPr lang="en-US" altLang="fr-FR">
              <a:solidFill>
                <a:srgbClr val="121D27"/>
              </a:solidFill>
            </a:endParaRPr>
          </a:p>
          <a:p>
            <a:r>
              <a:rPr lang="en-US" altLang="en-US">
                <a:solidFill>
                  <a:srgbClr val="121D27"/>
                </a:solidFill>
              </a:rPr>
              <a:t></a:t>
            </a:r>
            <a:r>
              <a:rPr lang="en-US" altLang="fr-FR">
                <a:solidFill>
                  <a:srgbClr val="121D27"/>
                </a:solidFill>
              </a:rPr>
              <a:t>Identification :</a:t>
            </a:r>
            <a:endParaRPr lang="en-US" altLang="fr-FR">
              <a:solidFill>
                <a:srgbClr val="121D27"/>
              </a:solidFill>
            </a:endParaRPr>
          </a:p>
          <a:p>
            <a:r>
              <a:rPr lang="en-US" altLang="fr-FR">
                <a:solidFill>
                  <a:srgbClr val="121D27"/>
                </a:solidFill>
              </a:rPr>
              <a:t>oP</a:t>
            </a:r>
            <a:r>
              <a:rPr lang="en-US" altLang="en-US">
                <a:solidFill>
                  <a:srgbClr val="121D27"/>
                </a:solidFill>
              </a:rPr>
              <a:t>é</a:t>
            </a:r>
            <a:r>
              <a:rPr lang="en-US" altLang="fr-FR">
                <a:solidFill>
                  <a:srgbClr val="121D27"/>
                </a:solidFill>
              </a:rPr>
              <a:t>riodes de forte activit</a:t>
            </a:r>
            <a:r>
              <a:rPr lang="en-US" altLang="en-US">
                <a:solidFill>
                  <a:srgbClr val="121D27"/>
                </a:solidFill>
              </a:rPr>
              <a:t>é</a:t>
            </a:r>
            <a:endParaRPr lang="en-US" altLang="en-US">
              <a:solidFill>
                <a:srgbClr val="121D27"/>
              </a:solidFill>
            </a:endParaRPr>
          </a:p>
          <a:p>
            <a:r>
              <a:rPr lang="en-US" altLang="fr-FR">
                <a:solidFill>
                  <a:srgbClr val="121D27"/>
                </a:solidFill>
              </a:rPr>
              <a:t>oP</a:t>
            </a:r>
            <a:r>
              <a:rPr lang="en-US" altLang="en-US">
                <a:solidFill>
                  <a:srgbClr val="121D27"/>
                </a:solidFill>
              </a:rPr>
              <a:t>é</a:t>
            </a:r>
            <a:r>
              <a:rPr lang="en-US" altLang="fr-FR">
                <a:solidFill>
                  <a:srgbClr val="121D27"/>
                </a:solidFill>
              </a:rPr>
              <a:t>riodes creuses</a:t>
            </a:r>
            <a:endParaRPr lang="en-US" altLang="fr-FR">
              <a:solidFill>
                <a:srgbClr val="121D27"/>
              </a:solidFill>
            </a:endParaRPr>
          </a:p>
          <a:p>
            <a:r>
              <a:rPr lang="en-US" altLang="fr-FR">
                <a:solidFill>
                  <a:srgbClr val="121D27"/>
                </a:solidFill>
              </a:rPr>
              <a:t> Forte activit</a:t>
            </a:r>
            <a:r>
              <a:rPr lang="en-US" altLang="en-US">
                <a:solidFill>
                  <a:srgbClr val="121D27"/>
                </a:solidFill>
              </a:rPr>
              <a:t>é</a:t>
            </a:r>
            <a:r>
              <a:rPr lang="en-US" altLang="fr-FR">
                <a:solidFill>
                  <a:srgbClr val="121D27"/>
                </a:solidFill>
              </a:rPr>
              <a:t> observ</a:t>
            </a:r>
            <a:r>
              <a:rPr lang="en-US" altLang="en-US">
                <a:solidFill>
                  <a:srgbClr val="121D27"/>
                </a:solidFill>
              </a:rPr>
              <a:t>é</a:t>
            </a:r>
            <a:r>
              <a:rPr lang="en-US" altLang="fr-FR">
                <a:solidFill>
                  <a:srgbClr val="121D27"/>
                </a:solidFill>
              </a:rPr>
              <a:t>e en fin d’ann</a:t>
            </a:r>
            <a:r>
              <a:rPr lang="en-US" altLang="en-US">
                <a:solidFill>
                  <a:srgbClr val="121D27"/>
                </a:solidFill>
              </a:rPr>
              <a:t>é</a:t>
            </a:r>
            <a:r>
              <a:rPr lang="en-US" altLang="fr-FR">
                <a:solidFill>
                  <a:srgbClr val="121D27"/>
                </a:solidFill>
              </a:rPr>
              <a:t>e (No</a:t>
            </a:r>
            <a:r>
              <a:rPr lang="" altLang="en-US">
                <a:solidFill>
                  <a:srgbClr val="121D27"/>
                </a:solidFill>
              </a:rPr>
              <a:t>ë</a:t>
            </a:r>
            <a:r>
              <a:rPr lang="en-US" altLang="fr-FR">
                <a:solidFill>
                  <a:srgbClr val="121D27"/>
                </a:solidFill>
              </a:rPr>
              <a:t>l)</a:t>
            </a:r>
            <a:endParaRPr lang="en-US" altLang="fr-FR">
              <a:solidFill>
                <a:srgbClr val="121D27"/>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3C16A"/>
        </a:solidFill>
        <a:effectLst/>
      </p:bgPr>
    </p:bg>
    <p:spTree>
      <p:nvGrpSpPr>
        <p:cNvPr id="1" name=""/>
        <p:cNvGrpSpPr/>
        <p:nvPr/>
      </p:nvGrpSpPr>
      <p:grpSpPr>
        <a:xfrm>
          <a:off x="0" y="0"/>
          <a:ext cx="0" cy="0"/>
          <a:chOff x="0" y="0"/>
          <a:chExt cx="0" cy="0"/>
        </a:xfrm>
      </p:grpSpPr>
      <p:sp>
        <p:nvSpPr>
          <p:cNvPr id="2" name="TextBox 2"/>
          <p:cNvSpPr txBox="1"/>
          <p:nvPr/>
        </p:nvSpPr>
        <p:spPr>
          <a:xfrm>
            <a:off x="1028700" y="1222375"/>
            <a:ext cx="11448394" cy="2052955"/>
          </a:xfrm>
          <a:prstGeom prst="rect">
            <a:avLst/>
          </a:prstGeom>
        </p:spPr>
        <p:txBody>
          <a:bodyPr lIns="0" tIns="0" rIns="0" bIns="0" rtlCol="0" anchor="t">
            <a:spAutoFit/>
          </a:bodyPr>
          <a:lstStyle/>
          <a:p>
            <a:pPr marL="0" lvl="1" algn="l">
              <a:lnSpc>
                <a:spcPts val="8005"/>
              </a:lnSpc>
            </a:pPr>
            <a:r>
              <a:rPr lang="fr-FR" altLang="en-US" sz="6670" b="1">
                <a:solidFill>
                  <a:srgbClr val="121D27"/>
                </a:solidFill>
                <a:latin typeface="Codec Pro Bold" panose="00000600000000000000"/>
                <a:ea typeface="Codec Pro Bold" panose="00000600000000000000"/>
                <a:cs typeface="Codec Pro Bold" panose="00000600000000000000"/>
                <a:sym typeface="Codec Pro Bold" panose="00000600000000000000"/>
              </a:rPr>
              <a:t>Dashboard overview</a:t>
            </a:r>
            <a:endParaRPr lang="fr-FR" altLang="en-US" sz="667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pPr marL="0" lvl="1" algn="l">
              <a:lnSpc>
                <a:spcPts val="8005"/>
              </a:lnSpc>
            </a:pPr>
            <a:r>
              <a:rPr lang="en-US" altLang="fr-FR" sz="2800" b="1">
                <a:solidFill>
                  <a:srgbClr val="121D27"/>
                </a:solidFill>
                <a:latin typeface="Codec Pro Bold" panose="00000600000000000000"/>
                <a:ea typeface="Codec Pro Bold" panose="00000600000000000000"/>
                <a:cs typeface="Codec Pro Bold" panose="00000600000000000000"/>
                <a:sym typeface="Codec Pro Bold" panose="00000600000000000000"/>
              </a:rPr>
              <a:t>Outils : Python (Pandas, Matplotlib / Seaborn / Plotly)</a:t>
            </a:r>
            <a:endParaRPr lang="en-US" altLang="fr-FR" sz="28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19" name="Zone de texte 18"/>
          <p:cNvSpPr txBox="1"/>
          <p:nvPr/>
        </p:nvSpPr>
        <p:spPr>
          <a:xfrm>
            <a:off x="1028700" y="3467100"/>
            <a:ext cx="7001510" cy="521970"/>
          </a:xfrm>
          <a:prstGeom prst="rect">
            <a:avLst/>
          </a:prstGeom>
          <a:noFill/>
        </p:spPr>
        <p:txBody>
          <a:bodyPr wrap="square" rtlCol="0">
            <a:spAutoFit/>
          </a:bodyPr>
          <a:p>
            <a:r>
              <a:rPr lang="en-US" altLang="fr-FR" sz="2800" b="1">
                <a:solidFill>
                  <a:srgbClr val="121D27"/>
                </a:solidFill>
                <a:latin typeface="Codec Pro Bold" panose="00000600000000000000"/>
                <a:ea typeface="Codec Pro Bold" panose="00000600000000000000"/>
                <a:cs typeface="Codec Pro Bold" panose="00000600000000000000"/>
                <a:sym typeface="Codec Pro Bold" panose="00000600000000000000"/>
              </a:rPr>
              <a:t>l</a:t>
            </a:r>
            <a:r>
              <a:rPr lang="fr-FR" altLang="en-US" sz="2800" b="1">
                <a:solidFill>
                  <a:srgbClr val="121D27"/>
                </a:solidFill>
                <a:latin typeface="Codec Pro Bold" panose="00000600000000000000"/>
                <a:ea typeface="Codec Pro Bold" panose="00000600000000000000"/>
                <a:cs typeface="Codec Pro Bold" panose="00000600000000000000"/>
                <a:sym typeface="Codec Pro Bold" panose="00000600000000000000"/>
              </a:rPr>
              <a:t>nteractive Dashbaord (Python) KPIs: </a:t>
            </a:r>
            <a:endParaRPr lang="fr-FR" altLang="en-US" sz="28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pic>
        <p:nvPicPr>
          <p:cNvPr id="27" name="Image 27" descr="{ADA36A77-8B16-40BE-9C70-6AA7942ED3F6}"/>
          <p:cNvPicPr>
            <a:picLocks noChangeAspect="1"/>
          </p:cNvPicPr>
          <p:nvPr/>
        </p:nvPicPr>
        <p:blipFill>
          <a:blip r:embed="rId1"/>
          <a:stretch>
            <a:fillRect/>
          </a:stretch>
        </p:blipFill>
        <p:spPr>
          <a:xfrm>
            <a:off x="914400" y="4305300"/>
            <a:ext cx="11918950" cy="42487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3C16A"/>
        </a:solidFill>
        <a:effectLst/>
      </p:bgPr>
    </p:bg>
    <p:spTree>
      <p:nvGrpSpPr>
        <p:cNvPr id="1" name=""/>
        <p:cNvGrpSpPr/>
        <p:nvPr/>
      </p:nvGrpSpPr>
      <p:grpSpPr/>
      <p:sp>
        <p:nvSpPr>
          <p:cNvPr id="2" name="Zone de texte 1"/>
          <p:cNvSpPr txBox="1"/>
          <p:nvPr/>
        </p:nvSpPr>
        <p:spPr>
          <a:xfrm>
            <a:off x="1066800" y="1140460"/>
            <a:ext cx="9651365" cy="2495550"/>
          </a:xfrm>
          <a:prstGeom prst="rect">
            <a:avLst/>
          </a:prstGeom>
          <a:noFill/>
        </p:spPr>
        <p:txBody>
          <a:bodyPr wrap="square" rtlCol="0">
            <a:noAutofit/>
          </a:bodyPr>
          <a:p>
            <a:pPr marL="0" lvl="1" algn="l">
              <a:lnSpc>
                <a:spcPts val="8005"/>
              </a:lnSpc>
            </a:pPr>
            <a:r>
              <a:rPr lang="fr-FR" altLang="en-US" sz="6600" b="1">
                <a:solidFill>
                  <a:srgbClr val="121D27"/>
                </a:solidFill>
                <a:latin typeface="Codec Pro Bold" panose="00000600000000000000"/>
                <a:ea typeface="Codec Pro Bold" panose="00000600000000000000"/>
                <a:cs typeface="Codec Pro Bold" panose="00000600000000000000"/>
                <a:sym typeface="Codec Pro Bold" panose="00000600000000000000"/>
              </a:rPr>
              <a:t>Dashboard overview</a:t>
            </a:r>
            <a:endParaRPr lang="fr-FR" altLang="en-US" sz="66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pPr marL="0" lvl="1" algn="l">
              <a:lnSpc>
                <a:spcPts val="8005"/>
              </a:lnSpc>
            </a:pPr>
            <a:r>
              <a:rPr lang="en-US" altLang="fr-FR" sz="2800" b="1">
                <a:solidFill>
                  <a:srgbClr val="121D27"/>
                </a:solidFill>
                <a:latin typeface="Codec Pro Bold" panose="00000600000000000000"/>
                <a:ea typeface="Codec Pro Bold" panose="00000600000000000000"/>
                <a:cs typeface="Codec Pro Bold" panose="00000600000000000000"/>
                <a:sym typeface="Codec Pro Bold" panose="00000600000000000000"/>
              </a:rPr>
              <a:t>Outils : Python (Pandas, Matplotlib / Seaborn / Plotly)</a:t>
            </a:r>
            <a:endParaRPr lang="en-US" altLang="fr-FR" sz="28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endParaRPr lang="en-US" altLang="fr-FR" sz="28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3" name="Zone de texte 2"/>
          <p:cNvSpPr txBox="1"/>
          <p:nvPr>
            <p:custDataLst>
              <p:tags r:id="rId1"/>
            </p:custDataLst>
          </p:nvPr>
        </p:nvSpPr>
        <p:spPr>
          <a:xfrm>
            <a:off x="1371600" y="3843020"/>
            <a:ext cx="6261100" cy="497840"/>
          </a:xfrm>
          <a:prstGeom prst="rect">
            <a:avLst/>
          </a:prstGeom>
          <a:noFill/>
        </p:spPr>
        <p:txBody>
          <a:bodyPr wrap="square" rtlCol="0">
            <a:noAutofit/>
          </a:bodyPr>
          <a:p>
            <a:r>
              <a:rPr lang="fr-FR" altLang="en-US" sz="2800" b="1">
                <a:solidFill>
                  <a:srgbClr val="121D27"/>
                </a:solidFill>
                <a:latin typeface="Codec Pro Bold" panose="00000600000000000000"/>
                <a:ea typeface="Codec Pro Bold" panose="00000600000000000000"/>
                <a:cs typeface="Codec Pro Bold" panose="00000600000000000000"/>
                <a:sym typeface="Codec Pro Bold" panose="00000600000000000000"/>
              </a:rPr>
              <a:t>sales over time:</a:t>
            </a:r>
            <a:endParaRPr lang="fr-FR" altLang="en-US" sz="28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4" name="Zone de texte 3"/>
          <p:cNvSpPr txBox="1"/>
          <p:nvPr>
            <p:custDataLst>
              <p:tags r:id="rId2"/>
            </p:custDataLst>
          </p:nvPr>
        </p:nvSpPr>
        <p:spPr>
          <a:xfrm>
            <a:off x="8382000" y="3848100"/>
            <a:ext cx="6143625" cy="386715"/>
          </a:xfrm>
          <a:prstGeom prst="rect">
            <a:avLst/>
          </a:prstGeom>
          <a:noFill/>
        </p:spPr>
        <p:txBody>
          <a:bodyPr wrap="square" rtlCol="0">
            <a:noAutofit/>
          </a:bodyPr>
          <a:p>
            <a:r>
              <a:rPr lang="fr-FR" altLang="en-US" sz="2800" b="1">
                <a:solidFill>
                  <a:srgbClr val="121D27"/>
                </a:solidFill>
                <a:latin typeface="Codec Pro Bold" panose="00000600000000000000"/>
                <a:ea typeface="Codec Pro Bold" panose="00000600000000000000"/>
                <a:cs typeface="Codec Pro Bold" panose="00000600000000000000"/>
                <a:sym typeface="Codec Pro Bold" panose="00000600000000000000"/>
              </a:rPr>
              <a:t>rfm Segmentation</a:t>
            </a:r>
            <a:r>
              <a:rPr lang="fr-FR" altLang="en-US" sz="2800" b="1">
                <a:solidFill>
                  <a:srgbClr val="EEEEEE"/>
                </a:solidFill>
                <a:latin typeface="Codec Pro Bold" panose="00000600000000000000"/>
                <a:ea typeface="Codec Pro Bold" panose="00000600000000000000"/>
                <a:cs typeface="Codec Pro Bold" panose="00000600000000000000"/>
                <a:sym typeface="Codec Pro Bold" panose="00000600000000000000"/>
              </a:rPr>
              <a:t>:</a:t>
            </a:r>
            <a:r>
              <a:rPr lang="fr-FR" altLang="en-US" b="1">
                <a:solidFill>
                  <a:srgbClr val="EEEEEE"/>
                </a:solidFill>
                <a:latin typeface="Codec Pro Bold" panose="00000600000000000000"/>
                <a:ea typeface="Codec Pro Bold" panose="00000600000000000000"/>
                <a:cs typeface="Codec Pro Bold" panose="00000600000000000000"/>
                <a:sym typeface="Codec Pro Bold" panose="00000600000000000000"/>
              </a:rPr>
              <a:t> </a:t>
            </a:r>
            <a:endParaRPr lang="fr-FR" altLang="en-US" b="1">
              <a:solidFill>
                <a:srgbClr val="EEEEEE"/>
              </a:solidFill>
              <a:latin typeface="Codec Pro Bold" panose="00000600000000000000"/>
              <a:ea typeface="Codec Pro Bold" panose="00000600000000000000"/>
              <a:cs typeface="Codec Pro Bold" panose="00000600000000000000"/>
              <a:sym typeface="Codec Pro Bold" panose="00000600000000000000"/>
            </a:endParaRPr>
          </a:p>
        </p:txBody>
      </p:sp>
      <p:pic>
        <p:nvPicPr>
          <p:cNvPr id="28" name="Image 28" descr="{069CF9FB-0E73-49ED-A252-AF9EFA56D97B}"/>
          <p:cNvPicPr>
            <a:picLocks noChangeAspect="1"/>
          </p:cNvPicPr>
          <p:nvPr>
            <p:custDataLst>
              <p:tags r:id="rId3"/>
            </p:custDataLst>
          </p:nvPr>
        </p:nvPicPr>
        <p:blipFill>
          <a:blip r:embed="rId4"/>
          <a:stretch>
            <a:fillRect/>
          </a:stretch>
        </p:blipFill>
        <p:spPr>
          <a:xfrm>
            <a:off x="1429385" y="4381500"/>
            <a:ext cx="5967730" cy="4821555"/>
          </a:xfrm>
          <a:prstGeom prst="rect">
            <a:avLst/>
          </a:prstGeom>
        </p:spPr>
      </p:pic>
      <p:pic>
        <p:nvPicPr>
          <p:cNvPr id="31" name="Image 31" descr="{4097F50C-DA97-48F3-A543-3C3D56805BC8}"/>
          <p:cNvPicPr>
            <a:picLocks noChangeAspect="1"/>
          </p:cNvPicPr>
          <p:nvPr>
            <p:custDataLst>
              <p:tags r:id="rId5"/>
            </p:custDataLst>
          </p:nvPr>
        </p:nvPicPr>
        <p:blipFill>
          <a:blip r:embed="rId6"/>
          <a:stretch>
            <a:fillRect/>
          </a:stretch>
        </p:blipFill>
        <p:spPr>
          <a:xfrm>
            <a:off x="8458200" y="4349750"/>
            <a:ext cx="6409690" cy="48380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3C16A"/>
        </a:solidFill>
        <a:effectLst/>
      </p:bgPr>
    </p:bg>
    <p:spTree>
      <p:nvGrpSpPr>
        <p:cNvPr id="1" name=""/>
        <p:cNvGrpSpPr/>
        <p:nvPr/>
      </p:nvGrpSpPr>
      <p:grpSpPr/>
      <p:pic>
        <p:nvPicPr>
          <p:cNvPr id="2" name="Image 1"/>
          <p:cNvPicPr>
            <a:picLocks noChangeAspect="1"/>
          </p:cNvPicPr>
          <p:nvPr/>
        </p:nvPicPr>
        <p:blipFill>
          <a:blip r:embed="rId1"/>
          <a:stretch>
            <a:fillRect/>
          </a:stretch>
        </p:blipFill>
        <p:spPr>
          <a:xfrm>
            <a:off x="762000" y="647700"/>
            <a:ext cx="6301740" cy="3520440"/>
          </a:xfrm>
          <a:prstGeom prst="rect">
            <a:avLst/>
          </a:prstGeom>
        </p:spPr>
      </p:pic>
      <p:pic>
        <p:nvPicPr>
          <p:cNvPr id="3" name="Image 2"/>
          <p:cNvPicPr>
            <a:picLocks noChangeAspect="1"/>
          </p:cNvPicPr>
          <p:nvPr/>
        </p:nvPicPr>
        <p:blipFill>
          <a:blip r:embed="rId2"/>
          <a:stretch>
            <a:fillRect/>
          </a:stretch>
        </p:blipFill>
        <p:spPr>
          <a:xfrm>
            <a:off x="762000" y="4076700"/>
            <a:ext cx="12946380" cy="3528060"/>
          </a:xfrm>
          <a:prstGeom prst="rect">
            <a:avLst/>
          </a:prstGeom>
        </p:spPr>
      </p:pic>
      <p:pic>
        <p:nvPicPr>
          <p:cNvPr id="4" name="Image 3"/>
          <p:cNvPicPr>
            <a:picLocks noChangeAspect="1"/>
          </p:cNvPicPr>
          <p:nvPr/>
        </p:nvPicPr>
        <p:blipFill>
          <a:blip r:embed="rId3"/>
          <a:stretch>
            <a:fillRect/>
          </a:stretch>
        </p:blipFill>
        <p:spPr>
          <a:xfrm>
            <a:off x="746760" y="6972300"/>
            <a:ext cx="12961620" cy="2865120"/>
          </a:xfrm>
          <a:prstGeom prst="rect">
            <a:avLst/>
          </a:prstGeom>
        </p:spPr>
      </p:pic>
      <p:sp>
        <p:nvSpPr>
          <p:cNvPr id="5" name="Zone de texte 4"/>
          <p:cNvSpPr txBox="1"/>
          <p:nvPr/>
        </p:nvSpPr>
        <p:spPr>
          <a:xfrm>
            <a:off x="7086600" y="3543300"/>
            <a:ext cx="6828790" cy="1156970"/>
          </a:xfrm>
          <a:prstGeom prst="rect">
            <a:avLst/>
          </a:prstGeom>
          <a:noFill/>
        </p:spPr>
        <p:txBody>
          <a:bodyPr wrap="square" rtlCol="0">
            <a:noAutofit/>
          </a:bodyPr>
          <a:p>
            <a:r>
              <a:rPr lang="fr-FR" altLang="en-US" sz="2800" b="1">
                <a:solidFill>
                  <a:srgbClr val="121D27"/>
                </a:solidFill>
                <a:latin typeface="Codec Pro Bold" panose="00000600000000000000"/>
                <a:ea typeface="Codec Pro Bold" panose="00000600000000000000"/>
                <a:cs typeface="Codec Pro Bold" panose="00000600000000000000"/>
                <a:sym typeface="Codec Pro Bold" panose="00000600000000000000"/>
              </a:rPr>
              <a:t>The rest of dash-board’s features.</a:t>
            </a:r>
            <a:endParaRPr lang="fr-FR" altLang="en-US" sz="28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3C16A"/>
        </a:solidFill>
        <a:effectLst/>
      </p:bgPr>
    </p:bg>
    <p:spTree>
      <p:nvGrpSpPr>
        <p:cNvPr id="1" name=""/>
        <p:cNvGrpSpPr/>
        <p:nvPr/>
      </p:nvGrpSpPr>
      <p:grpSpPr/>
      <p:sp>
        <p:nvSpPr>
          <p:cNvPr id="2" name="Zone de texte 1"/>
          <p:cNvSpPr txBox="1"/>
          <p:nvPr/>
        </p:nvSpPr>
        <p:spPr>
          <a:xfrm>
            <a:off x="1066800" y="1140460"/>
            <a:ext cx="9651365" cy="2495550"/>
          </a:xfrm>
          <a:prstGeom prst="rect">
            <a:avLst/>
          </a:prstGeom>
          <a:noFill/>
        </p:spPr>
        <p:txBody>
          <a:bodyPr wrap="square" rtlCol="0">
            <a:noAutofit/>
          </a:bodyPr>
          <a:p>
            <a:pPr marL="0" lvl="1" algn="l">
              <a:lnSpc>
                <a:spcPts val="8005"/>
              </a:lnSpc>
            </a:pPr>
            <a:r>
              <a:rPr lang="fr-FR" altLang="en-US" sz="6600" b="1">
                <a:solidFill>
                  <a:srgbClr val="121D27"/>
                </a:solidFill>
                <a:latin typeface="Codec Pro Bold" panose="00000600000000000000"/>
                <a:ea typeface="Codec Pro Bold" panose="00000600000000000000"/>
                <a:cs typeface="Codec Pro Bold" panose="00000600000000000000"/>
                <a:sym typeface="Codec Pro Bold" panose="00000600000000000000"/>
              </a:rPr>
              <a:t>Dashboard overview</a:t>
            </a:r>
            <a:endParaRPr lang="fr-FR" altLang="en-US" sz="66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pPr marL="0" lvl="1" algn="l">
              <a:lnSpc>
                <a:spcPts val="8005"/>
              </a:lnSpc>
            </a:pPr>
            <a:r>
              <a:rPr lang="en-US" altLang="fr-FR" sz="2800" b="1">
                <a:solidFill>
                  <a:srgbClr val="121D27"/>
                </a:solidFill>
                <a:latin typeface="Codec Pro Bold" panose="00000600000000000000"/>
                <a:ea typeface="Codec Pro Bold" panose="00000600000000000000"/>
                <a:cs typeface="Codec Pro Bold" panose="00000600000000000000"/>
                <a:sym typeface="Codec Pro Bold" panose="00000600000000000000"/>
              </a:rPr>
              <a:t>Outils : Python (Pandas, Matplotlib / Seaborn / Plotly)</a:t>
            </a:r>
            <a:endParaRPr lang="en-US" altLang="fr-FR" sz="28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endParaRPr lang="en-US" altLang="fr-FR" sz="28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3" name="Zone de texte 2"/>
          <p:cNvSpPr txBox="1"/>
          <p:nvPr/>
        </p:nvSpPr>
        <p:spPr>
          <a:xfrm>
            <a:off x="1495425" y="4084320"/>
            <a:ext cx="6096000" cy="521970"/>
          </a:xfrm>
          <a:prstGeom prst="rect">
            <a:avLst/>
          </a:prstGeom>
          <a:noFill/>
        </p:spPr>
        <p:txBody>
          <a:bodyPr wrap="square" rtlCol="0">
            <a:spAutoFit/>
          </a:bodyPr>
          <a:p>
            <a:r>
              <a:rPr lang="fr-FR" altLang="en-US" sz="2800" b="1">
                <a:solidFill>
                  <a:srgbClr val="EEEEEE"/>
                </a:solidFill>
                <a:latin typeface="Codec Pro Bold" panose="00000600000000000000"/>
                <a:ea typeface="Codec Pro Bold" panose="00000600000000000000"/>
                <a:cs typeface="Codec Pro Bold" panose="00000600000000000000"/>
                <a:sym typeface="Codec Pro Bold" panose="00000600000000000000"/>
              </a:rPr>
              <a:t>Top </a:t>
            </a:r>
            <a:r>
              <a:rPr lang="fr-FR" altLang="en-US" sz="2800" b="1">
                <a:solidFill>
                  <a:srgbClr val="121D27"/>
                </a:solidFill>
                <a:latin typeface="Codec Pro Bold" panose="00000600000000000000"/>
                <a:ea typeface="Codec Pro Bold" panose="00000600000000000000"/>
                <a:cs typeface="Codec Pro Bold" panose="00000600000000000000"/>
                <a:sym typeface="Codec Pro Bold" panose="00000600000000000000"/>
              </a:rPr>
              <a:t>Product</a:t>
            </a:r>
            <a:endParaRPr lang="fr-FR" altLang="en-US" sz="28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sp>
        <p:nvSpPr>
          <p:cNvPr id="4" name="Zone de texte 3"/>
          <p:cNvSpPr txBox="1"/>
          <p:nvPr/>
        </p:nvSpPr>
        <p:spPr>
          <a:xfrm>
            <a:off x="9071610" y="4076700"/>
            <a:ext cx="6096000" cy="521970"/>
          </a:xfrm>
          <a:prstGeom prst="rect">
            <a:avLst/>
          </a:prstGeom>
          <a:noFill/>
        </p:spPr>
        <p:txBody>
          <a:bodyPr wrap="square" rtlCol="0">
            <a:spAutoFit/>
          </a:bodyPr>
          <a:p>
            <a:r>
              <a:rPr lang="fr-FR" altLang="en-US" sz="2800" b="1">
                <a:solidFill>
                  <a:srgbClr val="121D27"/>
                </a:solidFill>
                <a:latin typeface="Codec Pro Bold" panose="00000600000000000000"/>
                <a:ea typeface="Codec Pro Bold" panose="00000600000000000000"/>
                <a:cs typeface="Codec Pro Bold" panose="00000600000000000000"/>
                <a:sym typeface="Codec Pro Bold" panose="00000600000000000000"/>
              </a:rPr>
              <a:t>Bottom Product </a:t>
            </a:r>
            <a:endParaRPr lang="fr-FR" altLang="en-US" sz="28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pic>
        <p:nvPicPr>
          <p:cNvPr id="29" name="Image 29" descr="{7640B27B-94AD-463C-AEEA-5AFEDCF88266}"/>
          <p:cNvPicPr>
            <a:picLocks noChangeAspect="1"/>
          </p:cNvPicPr>
          <p:nvPr/>
        </p:nvPicPr>
        <p:blipFill>
          <a:blip r:embed="rId1"/>
          <a:stretch>
            <a:fillRect/>
          </a:stretch>
        </p:blipFill>
        <p:spPr>
          <a:xfrm>
            <a:off x="1524000" y="4610100"/>
            <a:ext cx="4274185" cy="4636135"/>
          </a:xfrm>
          <a:prstGeom prst="rect">
            <a:avLst/>
          </a:prstGeom>
        </p:spPr>
      </p:pic>
      <p:pic>
        <p:nvPicPr>
          <p:cNvPr id="30" name="Image 30" descr="{8F541526-8BA3-4F15-9238-682C61FD6B32}"/>
          <p:cNvPicPr>
            <a:picLocks noChangeAspect="1"/>
          </p:cNvPicPr>
          <p:nvPr/>
        </p:nvPicPr>
        <p:blipFill>
          <a:blip r:embed="rId2"/>
          <a:stretch>
            <a:fillRect/>
          </a:stretch>
        </p:blipFill>
        <p:spPr>
          <a:xfrm>
            <a:off x="9071610" y="4610100"/>
            <a:ext cx="4380230" cy="46367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1553C"/>
        </a:solidFill>
        <a:effectLst/>
      </p:bgPr>
    </p:bg>
    <p:spTree>
      <p:nvGrpSpPr>
        <p:cNvPr id="1" name=""/>
        <p:cNvGrpSpPr/>
        <p:nvPr/>
      </p:nvGrpSpPr>
      <p:grpSpPr>
        <a:xfrm>
          <a:off x="0" y="0"/>
          <a:ext cx="0" cy="0"/>
          <a:chOff x="0" y="0"/>
          <a:chExt cx="0" cy="0"/>
        </a:xfrm>
      </p:grpSpPr>
      <p:sp>
        <p:nvSpPr>
          <p:cNvPr id="6" name="Zone de texte 5"/>
          <p:cNvSpPr txBox="1"/>
          <p:nvPr/>
        </p:nvSpPr>
        <p:spPr>
          <a:xfrm>
            <a:off x="1256665" y="2126615"/>
            <a:ext cx="6096000" cy="1197610"/>
          </a:xfrm>
          <a:prstGeom prst="rect">
            <a:avLst/>
          </a:prstGeom>
          <a:noFill/>
        </p:spPr>
        <p:txBody>
          <a:bodyPr wrap="square" rtlCol="0">
            <a:noAutofit/>
          </a:bodyPr>
          <a:p>
            <a:endParaRPr lang="fr-FR" altLang="en-US"/>
          </a:p>
        </p:txBody>
      </p:sp>
      <p:sp>
        <p:nvSpPr>
          <p:cNvPr id="7" name="Zone de texte 6"/>
          <p:cNvSpPr txBox="1"/>
          <p:nvPr/>
        </p:nvSpPr>
        <p:spPr>
          <a:xfrm>
            <a:off x="850900" y="748030"/>
            <a:ext cx="16439515" cy="6837680"/>
          </a:xfrm>
          <a:prstGeom prst="rect">
            <a:avLst/>
          </a:prstGeom>
          <a:noFill/>
        </p:spPr>
        <p:txBody>
          <a:bodyPr wrap="square" rtlCol="0">
            <a:noAutofit/>
          </a:bodyPr>
          <a:p>
            <a:r>
              <a:rPr lang="fr-FR" altLang="en-US" sz="4400" b="1" u="sng">
                <a:solidFill>
                  <a:srgbClr val="121D27"/>
                </a:solidFill>
                <a:latin typeface="Codec Pro Bold" panose="00000600000000000000"/>
                <a:ea typeface="Codec Pro Bold" panose="00000600000000000000"/>
                <a:cs typeface="Codec Pro Bold" panose="00000600000000000000"/>
                <a:sym typeface="Codec Pro Bold" panose="00000600000000000000"/>
              </a:rPr>
              <a:t>Résultats clés: </a:t>
            </a:r>
            <a:endParaRPr lang="fr-FR" altLang="en-US" sz="4400" b="1" u="sng">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rPr>
              <a:t>une miniorité de clients génère une grande part du CA </a:t>
            </a:r>
            <a:endPar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rPr>
              <a:t>les produits stars doivent étre priorisés </a:t>
            </a:r>
            <a:endPar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rPr>
              <a:t>forte saisionalité en fin d’année</a:t>
            </a:r>
            <a:endPar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4400" b="1" u="sng">
                <a:solidFill>
                  <a:srgbClr val="121D27"/>
                </a:solidFill>
                <a:latin typeface="Codec Pro Bold" panose="00000600000000000000"/>
                <a:ea typeface="Codec Pro Bold" panose="00000600000000000000"/>
                <a:cs typeface="Codec Pro Bold" panose="00000600000000000000"/>
                <a:sym typeface="Codec Pro Bold" panose="00000600000000000000"/>
              </a:rPr>
              <a:t>Recommendation métier: </a:t>
            </a:r>
            <a:endParaRPr lang="fr-FR" altLang="en-US" sz="4400" b="1" u="sng">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rPr>
              <a:t>fidéliser les clients premium </a:t>
            </a:r>
            <a:endPar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rPr>
              <a:t>relancer les clients à risquer </a:t>
            </a:r>
            <a:endPar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rPr>
              <a:t>optimiser le stock selon la saisionalitées </a:t>
            </a:r>
            <a:endPar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a:p>
            <a:r>
              <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rPr>
              <a:t>éliminer ou repositionner les produits, peeu, performants </a:t>
            </a:r>
            <a:endParaRPr lang="fr-FR" altLang="en-US" sz="4400" b="1">
              <a:solidFill>
                <a:srgbClr val="121D27"/>
              </a:solidFill>
              <a:latin typeface="Codec Pro Bold" panose="00000600000000000000"/>
              <a:ea typeface="Codec Pro Bold" panose="00000600000000000000"/>
              <a:cs typeface="Codec Pro Bold" panose="00000600000000000000"/>
              <a:sym typeface="Codec Pro Bold" panose="00000600000000000000"/>
            </a:endParaRPr>
          </a:p>
        </p:txBody>
      </p:sp>
    </p:spTree>
  </p:cSld>
  <p:clrMapOvr>
    <a:masterClrMapping/>
  </p:clrMapOvr>
</p:sld>
</file>

<file path=ppt/tags/tag1.xml><?xml version="1.0" encoding="utf-8"?>
<p:tagLst xmlns:p="http://schemas.openxmlformats.org/presentationml/2006/main">
  <p:tag name="KSO_WM_DIAGRAM_VIRTUALLY_FRAME" val="{&quot;height&quot;:594.2501067774124,&quot;left&quot;:66.00013166640697,&quot;top&quot;:206.99996968689874,&quot;width&quot;:1292.999868333593}"/>
</p:tagLst>
</file>

<file path=ppt/tags/tag2.xml><?xml version="1.0" encoding="utf-8"?>
<p:tagLst xmlns:p="http://schemas.openxmlformats.org/presentationml/2006/main">
  <p:tag name="KSO_WM_DIAGRAM_VIRTUALLY_FRAME" val="{&quot;height&quot;:594.2501067774124,&quot;left&quot;:66.00013166640697,&quot;top&quot;:206.99996968689874,&quot;width&quot;:1292.999868333593}"/>
</p:tagLst>
</file>

<file path=ppt/tags/tag3.xml><?xml version="1.0" encoding="utf-8"?>
<p:tagLst xmlns:p="http://schemas.openxmlformats.org/presentationml/2006/main">
  <p:tag name="KSO_WM_DIAGRAM_VIRTUALLY_FRAME" val="{&quot;height&quot;:594.2501067774124,&quot;left&quot;:66.00013166640697,&quot;top&quot;:206.99996968689874,&quot;width&quot;:1292.999868333593}"/>
</p:tagLst>
</file>

<file path=ppt/tags/tag4.xml><?xml version="1.0" encoding="utf-8"?>
<p:tagLst xmlns:p="http://schemas.openxmlformats.org/presentationml/2006/main">
  <p:tag name="KSO_WM_DIAGRAM_VIRTUALLY_FRAME" val="{&quot;height&quot;:594.2501067774124,&quot;left&quot;:66.00013166640697,&quot;top&quot;:206.99996968689874,&quot;width&quot;:1292.999868333593}"/>
</p:tagLst>
</file>

<file path=ppt/tags/tag5.xml><?xml version="1.0" encoding="utf-8"?>
<p:tagLst xmlns:p="http://schemas.openxmlformats.org/presentationml/2006/main">
  <p:tag name="KSO_WM_DIAGRAM_VIRTUALLY_FRAME" val="{&quot;height&quot;:594.2501067774124,&quot;left&quot;:66.00013166640697,&quot;top&quot;:206.99996968689874,&quot;width&quot;:1292.999868333593}"/>
</p:tagLst>
</file>

<file path=ppt/tags/tag6.xml><?xml version="1.0" encoding="utf-8"?>
<p:tagLst xmlns:p="http://schemas.openxmlformats.org/presentationml/2006/main">
  <p:tag name="KSO_WM_DIAGRAM_VIRTUALLY_FRAME" val="{&quot;height&quot;:594.2501067774124,&quot;left&quot;:66.00013166640697,&quot;top&quot;:206.99996968689874,&quot;width&quot;:1292.999868333593}"/>
</p:tagLst>
</file>

<file path=ppt/tags/tag7.xml><?xml version="1.0" encoding="utf-8"?>
<p:tagLst xmlns:p="http://schemas.openxmlformats.org/presentationml/2006/main">
  <p:tag name="KSO_WM_DIAGRAM_VIRTUALLY_FRAME" val="{&quot;height&quot;:594.2501067774124,&quot;left&quot;:66.00013166640697,&quot;top&quot;:206.99996968689874,&quot;width&quot;:1292.999868333593}"/>
</p:tagLst>
</file>

<file path=ppt/tags/tag8.xml><?xml version="1.0" encoding="utf-8"?>
<p:tagLst xmlns:p="http://schemas.openxmlformats.org/presentationml/2006/main">
  <p:tag name="KSO_WM_DIAGRAM_VIRTUALLY_FRAME" val="{&quot;height&quot;:594.2501067774124,&quot;left&quot;:66.00013166640697,&quot;top&quot;:206.99996968689874,&quot;width&quot;:1292.999868333593}"/>
</p:tagLst>
</file>

<file path=ppt/tags/tag9.xml><?xml version="1.0" encoding="utf-8"?>
<p:tagLst xmlns:p="http://schemas.openxmlformats.org/presentationml/2006/main">
  <p:tag name="KSO_WM_DIAGRAM_VIRTUALLY_FRAME" val="{&quot;height&quot;:594.2501067774124,&quot;left&quot;:66.00013166640697,&quot;top&quot;:206.99996968689874,&quot;width&quot;:1292.999868333593}"/>
</p:tagLst>
</file>

<file path=ppt/tags/tag10.xml><?xml version="1.0" encoding="utf-8"?>
<p:tagLst xmlns:p="http://schemas.openxmlformats.org/presentationml/2006/main">
  <p:tag name="KSO_WM_DIAGRAM_VIRTUALLY_FRAME" val="{&quot;height&quot;:422.05,&quot;left&quot;:108,&quot;top&quot;:302.6,&quot;width&quot;:1062.7}"/>
</p:tagLst>
</file>

<file path=ppt/tags/tag11.xml><?xml version="1.0" encoding="utf-8"?>
<p:tagLst xmlns:p="http://schemas.openxmlformats.org/presentationml/2006/main">
  <p:tag name="KSO_WM_DIAGRAM_VIRTUALLY_FRAME" val="{&quot;height&quot;:422.05,&quot;left&quot;:108,&quot;top&quot;:302.6,&quot;width&quot;:1062.7}"/>
</p:tagLst>
</file>

<file path=ppt/tags/tag12.xml><?xml version="1.0" encoding="utf-8"?>
<p:tagLst xmlns:p="http://schemas.openxmlformats.org/presentationml/2006/main">
  <p:tag name="KSO_WM_DIAGRAM_VIRTUALLY_FRAME" val="{&quot;height&quot;:422.05,&quot;left&quot;:108,&quot;top&quot;:302.6,&quot;width&quot;:1062.7}"/>
</p:tagLst>
</file>

<file path=ppt/tags/tag13.xml><?xml version="1.0" encoding="utf-8"?>
<p:tagLst xmlns:p="http://schemas.openxmlformats.org/presentationml/2006/main">
  <p:tag name="KSO_WM_DIAGRAM_VIRTUALLY_FRAME" val="{&quot;height&quot;:422.05,&quot;left&quot;:108,&quot;top&quot;:302.6,&quot;width&quot;:106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3859</Words>
  <Application>WPS Presentation</Application>
  <PresentationFormat>On-screen Show (4:3)</PresentationFormat>
  <Paragraphs>187</Paragraphs>
  <Slides>12</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Codec Pro</vt:lpstr>
      <vt:lpstr>Codec Pro Bold</vt:lpstr>
      <vt:lpstr>Arial</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d'Entreprise Rapport d’Analyse Commercial Simple et Minimaliste en Vert Olive et Blanc  </dc:title>
  <dc:creator/>
  <cp:lastModifiedBy>sahar ch</cp:lastModifiedBy>
  <cp:revision>14</cp:revision>
  <dcterms:created xsi:type="dcterms:W3CDTF">2006-08-16T00:00:00Z</dcterms:created>
  <dcterms:modified xsi:type="dcterms:W3CDTF">2025-12-31T22:27:27Z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CFA59853F63845908E971A176505BC02_12</vt:lpwstr>
  </property>
  <property fmtid="{D5CDD505-2E9C-101B-9397-08002B2CF9AE}" pid="3" name="KSOProductBuildVer">
    <vt:lpwstr>1036-12.2.0.23196</vt:lpwstr>
  </property>
</Properties>
</file>